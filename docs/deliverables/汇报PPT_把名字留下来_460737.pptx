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5.png"/><Relationship Id="rId8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3.png"/><Relationship Id="rId8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32.jpg"/><Relationship Id="rId6" Type="http://schemas.openxmlformats.org/officeDocument/2006/relationships/image" Target="../media/image33.jpg"/><Relationship Id="rId7" Type="http://schemas.openxmlformats.org/officeDocument/2006/relationships/image" Target="../media/image34.jpg"/><Relationship Id="rId8" Type="http://schemas.openxmlformats.org/officeDocument/2006/relationships/image" Target="../media/image35.png"/><Relationship Id="rId9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40.png"/><Relationship Id="rId7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40.png"/><Relationship Id="rId7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35.png"/><Relationship Id="rId6" Type="http://schemas.openxmlformats.org/officeDocument/2006/relationships/image" Target="../media/image4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44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37.png"/><Relationship Id="rId6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4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1" name="L1 渲染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2" name="L1-渲染底图" descr="L1-cover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  <p:grpSp>
        <p:nvGrpSpPr>
          <p:cNvPr id="22" name="L2 文字层"/>
          <p:cNvGrpSpPr/>
          <p:nvPr/>
        </p:nvGrpSpPr>
        <p:grpSpPr>
          <a:xfrm>
            <a:off x="896112" y="1481328"/>
            <a:ext cx="8412480" cy="4937760"/>
            <a:chOff x="896112" y="1481328"/>
            <a:chExt cx="8412480" cy="4937760"/>
          </a:xfrm>
        </p:grpSpPr>
        <p:sp>
          <p:nvSpPr>
            <p:cNvPr id="4" name="L2-眉标"/>
            <p:cNvSpPr txBox="1"/>
            <p:nvPr/>
          </p:nvSpPr>
          <p:spPr>
            <a:xfrm>
              <a:off x="932688" y="1481328"/>
              <a:ext cx="8138160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500" b="0" spc="300">
                  <a:solidFill>
                    <a:srgbClr val="E05C44"/>
                  </a:solidFill>
                  <a:latin typeface="宋体"/>
                </a:rPr>
                <a:t>1937 · 四行仓库 · 上海</a:t>
              </a:r>
            </a:p>
          </p:txBody>
        </p:sp>
        <p:sp>
          <p:nvSpPr>
            <p:cNvPr id="5" name="L2-主标题"/>
            <p:cNvSpPr txBox="1"/>
            <p:nvPr/>
          </p:nvSpPr>
          <p:spPr>
            <a:xfrm>
              <a:off x="896112" y="1847088"/>
              <a:ext cx="8412480" cy="1600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9200" b="1" spc="600">
                  <a:solidFill>
                    <a:srgbClr val="EDE6D8"/>
                  </a:solidFill>
                  <a:latin typeface="宋体"/>
                </a:rPr>
                <a:t>把名字留下来</a:t>
              </a:r>
            </a:p>
          </p:txBody>
        </p:sp>
        <p:sp>
          <p:nvSpPr>
            <p:cNvPr id="6" name="L2-红色标题线"/>
            <p:cNvSpPr/>
            <p:nvPr/>
          </p:nvSpPr>
          <p:spPr>
            <a:xfrm>
              <a:off x="960120" y="3310128"/>
              <a:ext cx="3017520" cy="22860"/>
            </a:xfrm>
            <a:prstGeom prst="rect">
              <a:avLst/>
            </a:prstGeom>
            <a:solidFill>
              <a:srgbClr val="A3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L2-副标题"/>
            <p:cNvSpPr txBox="1"/>
            <p:nvPr/>
          </p:nvSpPr>
          <p:spPr>
            <a:xfrm>
              <a:off x="960120" y="3529584"/>
              <a:ext cx="8046720" cy="5029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500" b="0" spc="200">
                  <a:solidFill>
                    <a:srgbClr val="EDE6D8"/>
                  </a:solidFill>
                  <a:latin typeface="宋体"/>
                </a:rPr>
                <a:t>四行仓库 · 苏州河北岸的四百余个名字</a:t>
              </a:r>
            </a:p>
          </p:txBody>
        </p:sp>
        <p:sp>
          <p:nvSpPr>
            <p:cNvPr id="8" name="L2-引语1"/>
            <p:cNvSpPr txBox="1"/>
            <p:nvPr/>
          </p:nvSpPr>
          <p:spPr>
            <a:xfrm>
              <a:off x="960120" y="4956048"/>
              <a:ext cx="7498079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600" b="0" spc="100">
                  <a:solidFill>
                    <a:srgbClr val="E0D5C5"/>
                  </a:solidFill>
                  <a:latin typeface="宋体"/>
                </a:rPr>
                <a:t>四百二十余人守了四天四夜。</a:t>
              </a:r>
            </a:p>
          </p:txBody>
        </p:sp>
        <p:sp>
          <p:nvSpPr>
            <p:cNvPr id="9" name="L2-引语2"/>
            <p:cNvSpPr txBox="1"/>
            <p:nvPr/>
          </p:nvSpPr>
          <p:spPr>
            <a:xfrm>
              <a:off x="960120" y="5285232"/>
              <a:ext cx="7498079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600" spc="100">
                  <a:solidFill>
                    <a:srgbClr val="E0D5C5"/>
                  </a:solidFill>
                  <a:latin typeface="宋体"/>
                </a:rPr>
                <a:t>他们的名字，后来只找回来</a:t>
              </a:r>
              <a:r>
                <a:rPr sz="1600" spc="100">
                  <a:solidFill>
                    <a:srgbClr val="E05C44"/>
                  </a:solidFill>
                  <a:latin typeface="宋体"/>
                </a:rPr>
                <a:t>八十七个</a:t>
              </a:r>
              <a:r>
                <a:rPr sz="1600" spc="100">
                  <a:solidFill>
                    <a:srgbClr val="E0D5C5"/>
                  </a:solidFill>
                  <a:latin typeface="宋体"/>
                </a:rPr>
                <a:t>。</a:t>
              </a:r>
            </a:p>
          </p:txBody>
        </p:sp>
        <p:sp>
          <p:nvSpPr>
            <p:cNvPr id="10" name="L2-赛事信息"/>
            <p:cNvSpPr txBox="1"/>
            <p:nvPr/>
          </p:nvSpPr>
          <p:spPr>
            <a:xfrm>
              <a:off x="960120" y="5797296"/>
              <a:ext cx="7498079" cy="32918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00" b="0">
                  <a:solidFill>
                    <a:srgbClr val="C4B8A4"/>
                  </a:solidFill>
                  <a:latin typeface="微软雅黑"/>
                </a:rPr>
                <a:t>2026 第十四届全国大学生数字媒体科技作品及创意竞赛　·　命题：红色之旅 追梦铸魂</a:t>
              </a:r>
            </a:p>
          </p:txBody>
        </p:sp>
        <p:sp>
          <p:nvSpPr>
            <p:cNvPr id="11" name="L2-作品信息"/>
            <p:cNvSpPr txBox="1"/>
            <p:nvPr/>
          </p:nvSpPr>
          <p:spPr>
            <a:xfrm>
              <a:off x="960120" y="6108192"/>
              <a:ext cx="7498079" cy="310896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>
                  <a:solidFill>
                    <a:srgbClr val="D4C7B2"/>
                  </a:solidFill>
                  <a:latin typeface="微软雅黑"/>
                </a:rPr>
                <a:t>作品编号 460737　｜　网页交互叙事 · 2.5D + 真 3D　｜　线上试玩：moon6jb6.github.io/szmt2026</a:t>
              </a:r>
            </a:p>
          </p:txBody>
        </p:sp>
      </p:grpSp>
      <p:grpSp>
        <p:nvGrpSpPr>
          <p:cNvPr id="23" name="L3 意象层"/>
          <p:cNvGrpSpPr/>
          <p:nvPr/>
        </p:nvGrpSpPr>
        <p:grpSpPr>
          <a:xfrm>
            <a:off x="-1188720" y="5961888"/>
            <a:ext cx="2606040" cy="2606040"/>
            <a:chOff x="-1188720" y="5961888"/>
            <a:chExt cx="2606040" cy="2606040"/>
          </a:xfrm>
        </p:grpSpPr>
        <p:pic>
          <p:nvPicPr>
            <p:cNvPr id="3" name="L3-名册" descr="L3-roste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120000">
              <a:off x="-1188720" y="5961888"/>
              <a:ext cx="2606040" cy="2606040"/>
            </a:xfrm>
            <a:prstGeom prst="rect">
              <a:avLst/>
            </a:prstGeom>
          </p:spPr>
        </p:pic>
      </p:grpSp>
      <p:grpSp>
        <p:nvGrpSpPr>
          <p:cNvPr id="24" name="L4 特殊意象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12" name="L4-左下压暗" descr="L4-scrim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13" name="L4-朱红绸带" descr="L4-ribbon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14" name="L4-朱红细带" descr="L4-ribbon-2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15" name="L4-朱红印章" descr="L4-seal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05088" y="2103120"/>
              <a:ext cx="932688" cy="932688"/>
            </a:xfrm>
            <a:prstGeom prst="rect">
              <a:avLst/>
            </a:prstGeom>
          </p:spPr>
        </p:pic>
        <p:pic>
          <p:nvPicPr>
            <p:cNvPr id="16" name="L4-金线" descr="L4-gold-lines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17" name="L4-尘埃" descr="L4-dust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sp>
          <p:nvSpPr>
            <p:cNvPr id="18" name="L4-二维码卡"/>
            <p:cNvSpPr/>
            <p:nvPr/>
          </p:nvSpPr>
          <p:spPr>
            <a:xfrm>
              <a:off x="10378440" y="4736592"/>
              <a:ext cx="1325880" cy="1325880"/>
            </a:xfrm>
            <a:prstGeom prst="rect">
              <a:avLst/>
            </a:prstGeom>
            <a:solidFill>
              <a:srgbClr val="EDE6D8"/>
            </a:solidFill>
            <a:ln w="13970">
              <a:solidFill>
                <a:srgbClr val="A32B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9" name="L4-二维码" descr="L4-qr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488168" y="4846320"/>
              <a:ext cx="1097280" cy="1097280"/>
            </a:xfrm>
            <a:prstGeom prst="rect">
              <a:avLst/>
            </a:prstGeom>
          </p:spPr>
        </p:pic>
        <p:sp>
          <p:nvSpPr>
            <p:cNvPr id="20" name="L4-二维码说明"/>
            <p:cNvSpPr txBox="1"/>
            <p:nvPr/>
          </p:nvSpPr>
          <p:spPr>
            <a:xfrm>
              <a:off x="10168128" y="6144768"/>
              <a:ext cx="173736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900" b="0">
                  <a:solidFill>
                    <a:srgbClr val="DECEB8"/>
                  </a:solidFill>
                  <a:latin typeface="微软雅黑"/>
                </a:rPr>
                <a:t>扫码试玩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7" name="L1 渲染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2" name="L1-档案纸" descr="L1-paper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  <p:grpSp>
        <p:nvGrpSpPr>
          <p:cNvPr id="28" name="L2 文字层"/>
          <p:cNvGrpSpPr/>
          <p:nvPr/>
        </p:nvGrpSpPr>
        <p:grpSpPr>
          <a:xfrm>
            <a:off x="777240" y="475488"/>
            <a:ext cx="10671048" cy="6254496"/>
            <a:chOff x="777240" y="475488"/>
            <a:chExt cx="10671048" cy="6254496"/>
          </a:xfrm>
        </p:grpSpPr>
        <p:sp>
          <p:nvSpPr>
            <p:cNvPr id="4" name="L2-眉标"/>
            <p:cNvSpPr txBox="1"/>
            <p:nvPr/>
          </p:nvSpPr>
          <p:spPr>
            <a:xfrm>
              <a:off x="777240" y="475488"/>
              <a:ext cx="822960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50" b="0" spc="320">
                  <a:solidFill>
                    <a:srgbClr val="A32B2B"/>
                  </a:solidFill>
                  <a:latin typeface="微软雅黑"/>
                </a:rPr>
                <a:t>作品信息</a:t>
              </a:r>
            </a:p>
          </p:txBody>
        </p:sp>
        <p:sp>
          <p:nvSpPr>
            <p:cNvPr id="5" name="L2-主标题"/>
            <p:cNvSpPr txBox="1"/>
            <p:nvPr/>
          </p:nvSpPr>
          <p:spPr>
            <a:xfrm>
              <a:off x="777240" y="841248"/>
              <a:ext cx="10607040" cy="589935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000" b="1" spc="250">
                  <a:solidFill>
                    <a:srgbClr val="16130F"/>
                  </a:solidFill>
                  <a:latin typeface="宋体"/>
                </a:rPr>
                <a:t>一个现在就能打开的作品</a:t>
              </a:r>
            </a:p>
          </p:txBody>
        </p:sp>
        <p:sp>
          <p:nvSpPr>
            <p:cNvPr id="6" name="L2-红色标题线"/>
            <p:cNvSpPr/>
            <p:nvPr/>
          </p:nvSpPr>
          <p:spPr>
            <a:xfrm>
              <a:off x="795528" y="1773936"/>
              <a:ext cx="2377440" cy="25603"/>
            </a:xfrm>
            <a:prstGeom prst="rect">
              <a:avLst/>
            </a:prstGeom>
            <a:solidFill>
              <a:srgbClr val="A3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L2-信息标签"/>
            <p:cNvSpPr txBox="1"/>
            <p:nvPr/>
          </p:nvSpPr>
          <p:spPr>
            <a:xfrm>
              <a:off x="822960" y="2148840"/>
              <a:ext cx="137160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00" b="0" spc="220">
                  <a:solidFill>
                    <a:srgbClr val="786952"/>
                  </a:solidFill>
                  <a:latin typeface="微软雅黑"/>
                </a:rPr>
                <a:t>作品名称</a:t>
              </a:r>
            </a:p>
          </p:txBody>
        </p:sp>
        <p:sp>
          <p:nvSpPr>
            <p:cNvPr id="8" name="L2-信息值"/>
            <p:cNvSpPr txBox="1"/>
            <p:nvPr/>
          </p:nvSpPr>
          <p:spPr>
            <a:xfrm>
              <a:off x="2286000" y="2121408"/>
              <a:ext cx="6949440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500" b="0" spc="60">
                  <a:solidFill>
                    <a:srgbClr val="16130F"/>
                  </a:solidFill>
                  <a:latin typeface="宋体"/>
                </a:rPr>
                <a:t>把名字留下来：四行仓库·苏州河北岸的四百余个名字</a:t>
              </a:r>
            </a:p>
          </p:txBody>
        </p:sp>
        <p:sp>
          <p:nvSpPr>
            <p:cNvPr id="10" name="L2-信息标签"/>
            <p:cNvSpPr txBox="1"/>
            <p:nvPr/>
          </p:nvSpPr>
          <p:spPr>
            <a:xfrm>
              <a:off x="822960" y="2862072"/>
              <a:ext cx="137160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00" b="0" spc="220">
                  <a:solidFill>
                    <a:srgbClr val="786952"/>
                  </a:solidFill>
                  <a:latin typeface="微软雅黑"/>
                </a:rPr>
                <a:t>作品编号</a:t>
              </a:r>
            </a:p>
          </p:txBody>
        </p:sp>
        <p:sp>
          <p:nvSpPr>
            <p:cNvPr id="11" name="L2-信息值"/>
            <p:cNvSpPr txBox="1"/>
            <p:nvPr/>
          </p:nvSpPr>
          <p:spPr>
            <a:xfrm>
              <a:off x="2286000" y="2834640"/>
              <a:ext cx="6949440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500" b="0" spc="60">
                  <a:solidFill>
                    <a:srgbClr val="16130F"/>
                  </a:solidFill>
                  <a:latin typeface="宋体"/>
                </a:rPr>
                <a:t>460737</a:t>
              </a:r>
            </a:p>
          </p:txBody>
        </p:sp>
        <p:sp>
          <p:nvSpPr>
            <p:cNvPr id="13" name="L2-信息标签"/>
            <p:cNvSpPr txBox="1"/>
            <p:nvPr/>
          </p:nvSpPr>
          <p:spPr>
            <a:xfrm>
              <a:off x="822960" y="3575304"/>
              <a:ext cx="137160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00" b="0" spc="220">
                  <a:solidFill>
                    <a:srgbClr val="786952"/>
                  </a:solidFill>
                  <a:latin typeface="微软雅黑"/>
                </a:rPr>
                <a:t>参赛命题</a:t>
              </a:r>
            </a:p>
          </p:txBody>
        </p:sp>
        <p:sp>
          <p:nvSpPr>
            <p:cNvPr id="14" name="L2-信息值"/>
            <p:cNvSpPr txBox="1"/>
            <p:nvPr/>
          </p:nvSpPr>
          <p:spPr>
            <a:xfrm>
              <a:off x="2286000" y="3547872"/>
              <a:ext cx="6949440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500" b="0" spc="60">
                  <a:solidFill>
                    <a:srgbClr val="16130F"/>
                  </a:solidFill>
                  <a:latin typeface="宋体"/>
                </a:rPr>
                <a:t>红色之旅 · 追梦铸魂</a:t>
              </a:r>
            </a:p>
          </p:txBody>
        </p:sp>
        <p:sp>
          <p:nvSpPr>
            <p:cNvPr id="16" name="L2-信息标签"/>
            <p:cNvSpPr txBox="1"/>
            <p:nvPr/>
          </p:nvSpPr>
          <p:spPr>
            <a:xfrm>
              <a:off x="822960" y="4288536"/>
              <a:ext cx="137160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00" b="0" spc="220">
                  <a:solidFill>
                    <a:srgbClr val="786952"/>
                  </a:solidFill>
                  <a:latin typeface="微软雅黑"/>
                </a:rPr>
                <a:t>作品形式</a:t>
              </a:r>
            </a:p>
          </p:txBody>
        </p:sp>
        <p:sp>
          <p:nvSpPr>
            <p:cNvPr id="17" name="L2-信息值"/>
            <p:cNvSpPr txBox="1"/>
            <p:nvPr/>
          </p:nvSpPr>
          <p:spPr>
            <a:xfrm>
              <a:off x="2286000" y="4261104"/>
              <a:ext cx="6949440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500" b="0" spc="60">
                  <a:solidFill>
                    <a:srgbClr val="16130F"/>
                  </a:solidFill>
                  <a:latin typeface="宋体"/>
                </a:rPr>
                <a:t>网页交互叙事　2.5D + 真 3D　本地 AI 生产管线</a:t>
              </a:r>
            </a:p>
          </p:txBody>
        </p:sp>
        <p:sp>
          <p:nvSpPr>
            <p:cNvPr id="19" name="L2-链接"/>
            <p:cNvSpPr txBox="1"/>
            <p:nvPr/>
          </p:nvSpPr>
          <p:spPr>
            <a:xfrm>
              <a:off x="822960" y="5230368"/>
              <a:ext cx="7223760" cy="9144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50" b="0" spc="40">
                  <a:solidFill>
                    <a:srgbClr val="605240"/>
                  </a:solidFill>
                  <a:latin typeface="微软雅黑"/>
                </a:rPr>
                <a:t>在线试玩　https://moon6jb6.github.io/szmt2026/</a:t>
              </a:r>
            </a:p>
            <a:p>
              <a:pPr algn="l"/>
              <a:r>
                <a:rPr sz="1150" b="0" spc="40">
                  <a:solidFill>
                    <a:srgbClr val="605240"/>
                  </a:solidFill>
                  <a:latin typeface="微软雅黑"/>
                </a:rPr>
                <a:t>仓库源码　https://github.com/moon6jb6/szmt2026</a:t>
              </a:r>
            </a:p>
          </p:txBody>
        </p:sp>
        <p:sp>
          <p:nvSpPr>
            <p:cNvPr id="21" name="L2-扫码提示"/>
            <p:cNvSpPr txBox="1"/>
            <p:nvPr/>
          </p:nvSpPr>
          <p:spPr>
            <a:xfrm>
              <a:off x="9619488" y="2514600"/>
              <a:ext cx="182880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950" b="0" spc="400">
                  <a:solidFill>
                    <a:srgbClr val="786952"/>
                  </a:solidFill>
                  <a:latin typeface="微软雅黑"/>
                </a:rPr>
                <a:t>扫 码 即 玩</a:t>
              </a:r>
            </a:p>
          </p:txBody>
        </p:sp>
        <p:sp>
          <p:nvSpPr>
            <p:cNvPr id="24" name="L2-网址"/>
            <p:cNvSpPr txBox="1"/>
            <p:nvPr/>
          </p:nvSpPr>
          <p:spPr>
            <a:xfrm>
              <a:off x="9601200" y="4480560"/>
              <a:ext cx="182880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850" b="0">
                  <a:solidFill>
                    <a:srgbClr val="786952"/>
                  </a:solidFill>
                  <a:latin typeface="微软雅黑"/>
                </a:rPr>
                <a:t>moon6jb6.github.io/szmt2026</a:t>
              </a:r>
            </a:p>
          </p:txBody>
        </p:sp>
        <p:sp>
          <p:nvSpPr>
            <p:cNvPr id="25" name="L2-页脚"/>
            <p:cNvSpPr txBox="1"/>
            <p:nvPr/>
          </p:nvSpPr>
          <p:spPr>
            <a:xfrm>
              <a:off x="777240" y="6492240"/>
              <a:ext cx="548640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850" b="0">
                  <a:solidFill>
                    <a:srgbClr val="6E6250"/>
                  </a:solidFill>
                  <a:latin typeface="微软雅黑"/>
                </a:rPr>
                <a:t>把名字留下来 · 四行仓库　｜　作品 460737</a:t>
              </a:r>
            </a:p>
          </p:txBody>
        </p:sp>
        <p:sp>
          <p:nvSpPr>
            <p:cNvPr id="26" name="L2-页码"/>
            <p:cNvSpPr txBox="1"/>
            <p:nvPr/>
          </p:nvSpPr>
          <p:spPr>
            <a:xfrm>
              <a:off x="10881360" y="6492240"/>
              <a:ext cx="54864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r"/>
              <a:r>
                <a:rPr sz="850" b="0">
                  <a:solidFill>
                    <a:srgbClr val="6E6250"/>
                  </a:solidFill>
                  <a:latin typeface="微软雅黑"/>
                </a:rPr>
                <a:t>02 / 19</a:t>
              </a:r>
            </a:p>
          </p:txBody>
        </p:sp>
      </p:grpSp>
      <p:grpSp>
        <p:nvGrpSpPr>
          <p:cNvPr id="29" name="L3 意象层"/>
          <p:cNvGrpSpPr/>
          <p:nvPr/>
        </p:nvGrpSpPr>
        <p:grpSpPr>
          <a:xfrm>
            <a:off x="9646920" y="1325880"/>
            <a:ext cx="1051560" cy="1051560"/>
            <a:chOff x="9646920" y="1325880"/>
            <a:chExt cx="1051560" cy="1051560"/>
          </a:xfrm>
        </p:grpSpPr>
        <p:pic>
          <p:nvPicPr>
            <p:cNvPr id="20" name="L3-留名印章" descr="L4-seal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46920" y="1325880"/>
              <a:ext cx="1051560" cy="1051560"/>
            </a:xfrm>
            <a:prstGeom prst="rect">
              <a:avLst/>
            </a:prstGeom>
          </p:spPr>
        </p:pic>
      </p:grpSp>
      <p:grpSp>
        <p:nvGrpSpPr>
          <p:cNvPr id="30" name="L4 特殊意象层"/>
          <p:cNvGrpSpPr/>
          <p:nvPr/>
        </p:nvGrpSpPr>
        <p:grpSpPr>
          <a:xfrm>
            <a:off x="777240" y="777240"/>
            <a:ext cx="10442448" cy="3994099"/>
            <a:chOff x="777240" y="777240"/>
            <a:chExt cx="10442448" cy="3994099"/>
          </a:xfrm>
        </p:grpSpPr>
        <p:sp>
          <p:nvSpPr>
            <p:cNvPr id="3" name="L4-细线"/>
            <p:cNvSpPr/>
            <p:nvPr/>
          </p:nvSpPr>
          <p:spPr>
            <a:xfrm>
              <a:off x="777240" y="777240"/>
              <a:ext cx="9509760" cy="10972"/>
            </a:xfrm>
            <a:prstGeom prst="rect">
              <a:avLst/>
            </a:prstGeom>
            <a:solidFill>
              <a:srgbClr val="7869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4-分隔线"/>
            <p:cNvSpPr/>
            <p:nvPr/>
          </p:nvSpPr>
          <p:spPr>
            <a:xfrm>
              <a:off x="822960" y="2624328"/>
              <a:ext cx="8138160" cy="7315"/>
            </a:xfrm>
            <a:prstGeom prst="rect">
              <a:avLst/>
            </a:prstGeom>
            <a:solidFill>
              <a:srgbClr val="BEB0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L4-分隔线"/>
            <p:cNvSpPr/>
            <p:nvPr/>
          </p:nvSpPr>
          <p:spPr>
            <a:xfrm>
              <a:off x="822960" y="3337560"/>
              <a:ext cx="8138160" cy="7315"/>
            </a:xfrm>
            <a:prstGeom prst="rect">
              <a:avLst/>
            </a:prstGeom>
            <a:solidFill>
              <a:srgbClr val="BEB0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L4-分隔线"/>
            <p:cNvSpPr/>
            <p:nvPr/>
          </p:nvSpPr>
          <p:spPr>
            <a:xfrm>
              <a:off x="822960" y="4050791"/>
              <a:ext cx="8138160" cy="7315"/>
            </a:xfrm>
            <a:prstGeom prst="rect">
              <a:avLst/>
            </a:prstGeom>
            <a:solidFill>
              <a:srgbClr val="BEB0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L4-分隔线"/>
            <p:cNvSpPr/>
            <p:nvPr/>
          </p:nvSpPr>
          <p:spPr>
            <a:xfrm>
              <a:off x="822960" y="4764024"/>
              <a:ext cx="8138160" cy="7315"/>
            </a:xfrm>
            <a:prstGeom prst="rect">
              <a:avLst/>
            </a:prstGeom>
            <a:solidFill>
              <a:srgbClr val="BEB0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L4-二维码卡"/>
            <p:cNvSpPr/>
            <p:nvPr/>
          </p:nvSpPr>
          <p:spPr>
            <a:xfrm>
              <a:off x="9710928" y="2852928"/>
              <a:ext cx="1508760" cy="1508760"/>
            </a:xfrm>
            <a:prstGeom prst="rect">
              <a:avLst/>
            </a:prstGeom>
            <a:solidFill>
              <a:srgbClr val="EDE6D8"/>
            </a:solidFill>
            <a:ln w="12700">
              <a:solidFill>
                <a:srgbClr val="A32B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3" name="L4-二维码" descr="L4-qr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20656" y="2962656"/>
              <a:ext cx="1298448" cy="12984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2" name="L1 渲染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2" name="L1-渲染底图" descr="L1-river-night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  <p:grpSp>
        <p:nvGrpSpPr>
          <p:cNvPr id="23" name="L2 文字层"/>
          <p:cNvGrpSpPr/>
          <p:nvPr/>
        </p:nvGrpSpPr>
        <p:grpSpPr>
          <a:xfrm>
            <a:off x="777240" y="475488"/>
            <a:ext cx="10652760" cy="6254496"/>
            <a:chOff x="777240" y="475488"/>
            <a:chExt cx="10652760" cy="6254496"/>
          </a:xfrm>
        </p:grpSpPr>
        <p:sp>
          <p:nvSpPr>
            <p:cNvPr id="5" name="L2-眉标"/>
            <p:cNvSpPr txBox="1"/>
            <p:nvPr/>
          </p:nvSpPr>
          <p:spPr>
            <a:xfrm>
              <a:off x="777240" y="475488"/>
              <a:ext cx="822960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50" b="0" spc="320">
                  <a:solidFill>
                    <a:srgbClr val="E05C44"/>
                  </a:solidFill>
                  <a:latin typeface="微软雅黑"/>
                </a:rPr>
                <a:t>史实底座</a:t>
              </a:r>
            </a:p>
          </p:txBody>
        </p:sp>
        <p:sp>
          <p:nvSpPr>
            <p:cNvPr id="6" name="L2-主标题"/>
            <p:cNvSpPr txBox="1"/>
            <p:nvPr/>
          </p:nvSpPr>
          <p:spPr>
            <a:xfrm>
              <a:off x="777240" y="841248"/>
              <a:ext cx="10607040" cy="648929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400" b="1" spc="200">
                  <a:solidFill>
                    <a:srgbClr val="EDE6D8"/>
                  </a:solidFill>
                  <a:latin typeface="宋体"/>
                </a:rPr>
                <a:t>四百二十余人，八十七个名字</a:t>
              </a:r>
            </a:p>
          </p:txBody>
        </p:sp>
        <p:sp>
          <p:nvSpPr>
            <p:cNvPr id="7" name="L2-红色标题线"/>
            <p:cNvSpPr/>
            <p:nvPr/>
          </p:nvSpPr>
          <p:spPr>
            <a:xfrm>
              <a:off x="795528" y="1627632"/>
              <a:ext cx="2377440" cy="25603"/>
            </a:xfrm>
            <a:prstGeom prst="rect">
              <a:avLst/>
            </a:prstGeom>
            <a:solidFill>
              <a:srgbClr val="A3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2-页脚"/>
            <p:cNvSpPr txBox="1"/>
            <p:nvPr/>
          </p:nvSpPr>
          <p:spPr>
            <a:xfrm>
              <a:off x="777240" y="6492240"/>
              <a:ext cx="548640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850" b="0">
                  <a:solidFill>
                    <a:srgbClr val="A89C88"/>
                  </a:solidFill>
                  <a:latin typeface="微软雅黑"/>
                </a:rPr>
                <a:t>把名字留下来 · 四行仓库　｜　作品 460737</a:t>
              </a:r>
            </a:p>
          </p:txBody>
        </p:sp>
        <p:sp>
          <p:nvSpPr>
            <p:cNvPr id="9" name="L2-页码"/>
            <p:cNvSpPr txBox="1"/>
            <p:nvPr/>
          </p:nvSpPr>
          <p:spPr>
            <a:xfrm>
              <a:off x="10881360" y="6492240"/>
              <a:ext cx="54864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r"/>
              <a:r>
                <a:rPr sz="850" b="0">
                  <a:solidFill>
                    <a:srgbClr val="A89C88"/>
                  </a:solidFill>
                  <a:latin typeface="微软雅黑"/>
                </a:rPr>
                <a:t>03 / 19</a:t>
              </a:r>
            </a:p>
          </p:txBody>
        </p:sp>
        <p:sp>
          <p:nvSpPr>
            <p:cNvPr id="10" name="L2-大数字"/>
            <p:cNvSpPr txBox="1"/>
            <p:nvPr/>
          </p:nvSpPr>
          <p:spPr>
            <a:xfrm>
              <a:off x="822960" y="2148840"/>
              <a:ext cx="2194560" cy="9525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5000" b="1" spc="100">
                  <a:solidFill>
                    <a:srgbClr val="EDE6D8"/>
                  </a:solidFill>
                  <a:latin typeface="宋体"/>
                </a:rPr>
                <a:t>420+</a:t>
              </a:r>
            </a:p>
          </p:txBody>
        </p:sp>
        <p:sp>
          <p:nvSpPr>
            <p:cNvPr id="11" name="L2-数字说明"/>
            <p:cNvSpPr txBox="1"/>
            <p:nvPr/>
          </p:nvSpPr>
          <p:spPr>
            <a:xfrm>
              <a:off x="822960" y="2856992"/>
              <a:ext cx="2194560" cy="310896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200">
                  <a:solidFill>
                    <a:srgbClr val="A89C88"/>
                  </a:solidFill>
                  <a:latin typeface="微软雅黑"/>
                </a:rPr>
                <a:t>实际守军（约）</a:t>
              </a:r>
            </a:p>
          </p:txBody>
        </p:sp>
        <p:sp>
          <p:nvSpPr>
            <p:cNvPr id="12" name="L2-大数字"/>
            <p:cNvSpPr txBox="1"/>
            <p:nvPr/>
          </p:nvSpPr>
          <p:spPr>
            <a:xfrm>
              <a:off x="3200400" y="2148840"/>
              <a:ext cx="2194560" cy="9525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5000" b="1" spc="100">
                  <a:solidFill>
                    <a:srgbClr val="EDE6D8"/>
                  </a:solidFill>
                  <a:latin typeface="宋体"/>
                </a:rPr>
                <a:t>87</a:t>
              </a:r>
            </a:p>
          </p:txBody>
        </p:sp>
        <p:sp>
          <p:nvSpPr>
            <p:cNvPr id="13" name="L2-数字说明"/>
            <p:cNvSpPr txBox="1"/>
            <p:nvPr/>
          </p:nvSpPr>
          <p:spPr>
            <a:xfrm>
              <a:off x="3200400" y="2856992"/>
              <a:ext cx="2194560" cy="310896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200">
                  <a:solidFill>
                    <a:srgbClr val="A89C88"/>
                  </a:solidFill>
                  <a:latin typeface="微软雅黑"/>
                </a:rPr>
                <a:t>后来查实姓名</a:t>
              </a:r>
            </a:p>
          </p:txBody>
        </p:sp>
        <p:sp>
          <p:nvSpPr>
            <p:cNvPr id="14" name="L2-大数字"/>
            <p:cNvSpPr txBox="1"/>
            <p:nvPr/>
          </p:nvSpPr>
          <p:spPr>
            <a:xfrm>
              <a:off x="5577840" y="2148840"/>
              <a:ext cx="2194560" cy="9525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5000" b="1" spc="100">
                  <a:solidFill>
                    <a:srgbClr val="EDE6D8"/>
                  </a:solidFill>
                  <a:latin typeface="宋体"/>
                </a:rPr>
                <a:t>76</a:t>
              </a:r>
            </a:p>
          </p:txBody>
        </p:sp>
        <p:sp>
          <p:nvSpPr>
            <p:cNvPr id="15" name="L2-数字说明"/>
            <p:cNvSpPr txBox="1"/>
            <p:nvPr/>
          </p:nvSpPr>
          <p:spPr>
            <a:xfrm>
              <a:off x="5577840" y="2856992"/>
              <a:ext cx="2194560" cy="310896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200">
                  <a:solidFill>
                    <a:srgbClr val="A89C88"/>
                  </a:solidFill>
                  <a:latin typeface="微软雅黑"/>
                </a:rPr>
                <a:t>可点开的史料卡</a:t>
              </a:r>
            </a:p>
          </p:txBody>
        </p:sp>
        <p:sp>
          <p:nvSpPr>
            <p:cNvPr id="16" name="L2-说明"/>
            <p:cNvSpPr txBox="1"/>
            <p:nvPr/>
          </p:nvSpPr>
          <p:spPr>
            <a:xfrm>
              <a:off x="822960" y="3566160"/>
              <a:ext cx="6766560" cy="109728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500" b="0" spc="120">
                  <a:solidFill>
                    <a:srgbClr val="D6CAB8"/>
                  </a:solidFill>
                  <a:latin typeface="微软雅黑"/>
                </a:rPr>
                <a:t>每一条史实都能点开，看到原句、作者与出处。</a:t>
              </a:r>
            </a:p>
            <a:p>
              <a:pPr algn="l"/>
              <a:r>
                <a:rPr sz="1500" b="0" spc="120">
                  <a:solidFill>
                    <a:srgbClr val="D6CAB8"/>
                  </a:solidFill>
                  <a:latin typeface="微软雅黑"/>
                </a:rPr>
                <a:t>真实人物零自编台词；未核史实不进正文。</a:t>
              </a:r>
            </a:p>
          </p:txBody>
        </p:sp>
        <p:sp>
          <p:nvSpPr>
            <p:cNvPr id="21" name="L2-已核说明"/>
            <p:cNvSpPr txBox="1"/>
            <p:nvPr/>
          </p:nvSpPr>
          <p:spPr>
            <a:xfrm>
              <a:off x="8595360" y="3154680"/>
              <a:ext cx="173736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950" b="0">
                  <a:solidFill>
                    <a:srgbClr val="DECEB8"/>
                  </a:solidFill>
                  <a:latin typeface="微软雅黑"/>
                </a:rPr>
                <a:t>已核 63 张</a:t>
              </a:r>
            </a:p>
          </p:txBody>
        </p:sp>
      </p:grpSp>
      <p:grpSp>
        <p:nvGrpSpPr>
          <p:cNvPr id="24" name="L3 意象层"/>
          <p:cNvGrpSpPr/>
          <p:nvPr/>
        </p:nvGrpSpPr>
        <p:grpSpPr>
          <a:xfrm>
            <a:off x="5806440" y="2651760"/>
            <a:ext cx="5486400" cy="4434840"/>
            <a:chOff x="5806440" y="2651760"/>
            <a:chExt cx="5486400" cy="4434840"/>
          </a:xfrm>
        </p:grpSpPr>
        <p:pic>
          <p:nvPicPr>
            <p:cNvPr id="17" name="L3-名册" descr="L3-roster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300000">
              <a:off x="7086600" y="2880360"/>
              <a:ext cx="4206240" cy="4206240"/>
            </a:xfrm>
            <a:prstGeom prst="rect">
              <a:avLst/>
            </a:prstGeom>
          </p:spPr>
        </p:pic>
        <p:pic>
          <p:nvPicPr>
            <p:cNvPr id="18" name="L3-黑白合影" descr="obj-photo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40000">
              <a:off x="5806440" y="2651760"/>
              <a:ext cx="2286000" cy="2286000"/>
            </a:xfrm>
            <a:prstGeom prst="rect">
              <a:avLst/>
            </a:prstGeom>
          </p:spPr>
        </p:pic>
      </p:grpSp>
      <p:grpSp>
        <p:nvGrpSpPr>
          <p:cNvPr id="25" name="L4 特殊意象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3" name="L4-金线角" descr="L4-corne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4" name="L4-尘埃" descr="L4-dus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19" name="L4-已核印章" descr="L4-seal-check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32520" y="2057400"/>
              <a:ext cx="1051560" cy="1051560"/>
            </a:xfrm>
            <a:prstGeom prst="rect">
              <a:avLst/>
            </a:prstGeom>
          </p:spPr>
        </p:pic>
        <p:pic>
          <p:nvPicPr>
            <p:cNvPr id="20" name="L4-左压暗" descr="L4-left-scrim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4" name="L1 渲染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2" name="L1-渲染底图" descr="L1-warehouse-warm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  <p:grpSp>
        <p:nvGrpSpPr>
          <p:cNvPr id="25" name="L2 文字层"/>
          <p:cNvGrpSpPr/>
          <p:nvPr/>
        </p:nvGrpSpPr>
        <p:grpSpPr>
          <a:xfrm>
            <a:off x="777240" y="475488"/>
            <a:ext cx="10652760" cy="6254496"/>
            <a:chOff x="777240" y="475488"/>
            <a:chExt cx="10652760" cy="6254496"/>
          </a:xfrm>
        </p:grpSpPr>
        <p:sp>
          <p:nvSpPr>
            <p:cNvPr id="5" name="L2-眉标"/>
            <p:cNvSpPr txBox="1"/>
            <p:nvPr/>
          </p:nvSpPr>
          <p:spPr>
            <a:xfrm>
              <a:off x="777240" y="475488"/>
              <a:ext cx="822960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50" b="0" spc="320">
                  <a:solidFill>
                    <a:srgbClr val="E05C44"/>
                  </a:solidFill>
                  <a:latin typeface="微软雅黑"/>
                </a:rPr>
                <a:t>创作立意</a:t>
              </a:r>
            </a:p>
          </p:txBody>
        </p:sp>
        <p:sp>
          <p:nvSpPr>
            <p:cNvPr id="6" name="L2-主标题"/>
            <p:cNvSpPr txBox="1"/>
            <p:nvPr/>
          </p:nvSpPr>
          <p:spPr>
            <a:xfrm>
              <a:off x="777240" y="841248"/>
              <a:ext cx="10607040" cy="678425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600" b="1" spc="200">
                  <a:solidFill>
                    <a:srgbClr val="EDE6D8"/>
                  </a:solidFill>
                  <a:latin typeface="宋体"/>
                </a:rPr>
                <a:t>这不是一个打仗的游戏</a:t>
              </a:r>
            </a:p>
          </p:txBody>
        </p:sp>
        <p:sp>
          <p:nvSpPr>
            <p:cNvPr id="7" name="L2-红色标题线"/>
            <p:cNvSpPr/>
            <p:nvPr/>
          </p:nvSpPr>
          <p:spPr>
            <a:xfrm>
              <a:off x="795528" y="1627632"/>
              <a:ext cx="2377440" cy="25603"/>
            </a:xfrm>
            <a:prstGeom prst="rect">
              <a:avLst/>
            </a:prstGeom>
            <a:solidFill>
              <a:srgbClr val="A3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2-页脚"/>
            <p:cNvSpPr txBox="1"/>
            <p:nvPr/>
          </p:nvSpPr>
          <p:spPr>
            <a:xfrm>
              <a:off x="777240" y="6492240"/>
              <a:ext cx="548640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850" b="0">
                  <a:solidFill>
                    <a:srgbClr val="A89C88"/>
                  </a:solidFill>
                  <a:latin typeface="微软雅黑"/>
                </a:rPr>
                <a:t>把名字留下来 · 四行仓库　｜　作品 460737</a:t>
              </a:r>
            </a:p>
          </p:txBody>
        </p:sp>
        <p:sp>
          <p:nvSpPr>
            <p:cNvPr id="9" name="L2-页码"/>
            <p:cNvSpPr txBox="1"/>
            <p:nvPr/>
          </p:nvSpPr>
          <p:spPr>
            <a:xfrm>
              <a:off x="10881360" y="6492240"/>
              <a:ext cx="54864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r"/>
              <a:r>
                <a:rPr sz="850" b="0">
                  <a:solidFill>
                    <a:srgbClr val="A89C88"/>
                  </a:solidFill>
                  <a:latin typeface="微软雅黑"/>
                </a:rPr>
                <a:t>04 / 19</a:t>
              </a:r>
            </a:p>
          </p:txBody>
        </p:sp>
        <p:sp>
          <p:nvSpPr>
            <p:cNvPr id="10" name="L2-序号"/>
            <p:cNvSpPr txBox="1"/>
            <p:nvPr/>
          </p:nvSpPr>
          <p:spPr>
            <a:xfrm>
              <a:off x="822960" y="2331720"/>
              <a:ext cx="73152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800" b="1" spc="100">
                  <a:solidFill>
                    <a:srgbClr val="E05C44"/>
                  </a:solidFill>
                  <a:latin typeface="宋体"/>
                </a:rPr>
                <a:t>01</a:t>
              </a:r>
            </a:p>
          </p:txBody>
        </p:sp>
        <p:sp>
          <p:nvSpPr>
            <p:cNvPr id="11" name="L2-断言"/>
            <p:cNvSpPr txBox="1"/>
            <p:nvPr/>
          </p:nvSpPr>
          <p:spPr>
            <a:xfrm>
              <a:off x="1572768" y="2313432"/>
              <a:ext cx="603504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200" b="0" spc="150">
                  <a:solidFill>
                    <a:srgbClr val="EDE6D8"/>
                  </a:solidFill>
                  <a:latin typeface="宋体"/>
                </a:rPr>
                <a:t>不做杀敌计数</a:t>
              </a:r>
            </a:p>
          </p:txBody>
        </p:sp>
        <p:sp>
          <p:nvSpPr>
            <p:cNvPr id="13" name="L2-序号"/>
            <p:cNvSpPr txBox="1"/>
            <p:nvPr/>
          </p:nvSpPr>
          <p:spPr>
            <a:xfrm>
              <a:off x="822960" y="3200400"/>
              <a:ext cx="73152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800" b="1" spc="100">
                  <a:solidFill>
                    <a:srgbClr val="E05C44"/>
                  </a:solidFill>
                  <a:latin typeface="宋体"/>
                </a:rPr>
                <a:t>02</a:t>
              </a:r>
            </a:p>
          </p:txBody>
        </p:sp>
        <p:sp>
          <p:nvSpPr>
            <p:cNvPr id="14" name="L2-断言"/>
            <p:cNvSpPr txBox="1"/>
            <p:nvPr/>
          </p:nvSpPr>
          <p:spPr>
            <a:xfrm>
              <a:off x="1572768" y="3182112"/>
              <a:ext cx="603504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200" b="0" spc="150">
                  <a:solidFill>
                    <a:srgbClr val="EDE6D8"/>
                  </a:solidFill>
                  <a:latin typeface="宋体"/>
                </a:rPr>
                <a:t>不做胜负评分</a:t>
              </a:r>
            </a:p>
          </p:txBody>
        </p:sp>
        <p:sp>
          <p:nvSpPr>
            <p:cNvPr id="16" name="L2-序号"/>
            <p:cNvSpPr txBox="1"/>
            <p:nvPr/>
          </p:nvSpPr>
          <p:spPr>
            <a:xfrm>
              <a:off x="822960" y="4069080"/>
              <a:ext cx="73152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800" b="1" spc="100">
                  <a:solidFill>
                    <a:srgbClr val="E05C44"/>
                  </a:solidFill>
                  <a:latin typeface="宋体"/>
                </a:rPr>
                <a:t>03</a:t>
              </a:r>
            </a:p>
          </p:txBody>
        </p:sp>
        <p:sp>
          <p:nvSpPr>
            <p:cNvPr id="17" name="L2-断言"/>
            <p:cNvSpPr txBox="1"/>
            <p:nvPr/>
          </p:nvSpPr>
          <p:spPr>
            <a:xfrm>
              <a:off x="1572768" y="4050792"/>
              <a:ext cx="603504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200" b="0" spc="150">
                  <a:solidFill>
                    <a:srgbClr val="EDE6D8"/>
                  </a:solidFill>
                  <a:latin typeface="宋体"/>
                </a:rPr>
                <a:t>只问：什么被留下</a:t>
              </a:r>
            </a:p>
          </p:txBody>
        </p:sp>
        <p:sp>
          <p:nvSpPr>
            <p:cNvPr id="19" name="L2-结语"/>
            <p:cNvSpPr txBox="1"/>
            <p:nvPr/>
          </p:nvSpPr>
          <p:spPr>
            <a:xfrm>
              <a:off x="822960" y="5138928"/>
              <a:ext cx="6766560" cy="7315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700" b="0" spc="120">
                  <a:solidFill>
                    <a:srgbClr val="DCD0BC"/>
                  </a:solidFill>
                  <a:latin typeface="宋体"/>
                </a:rPr>
                <a:t>四天四夜之后，唯一还能带出去的，是名字。</a:t>
              </a:r>
            </a:p>
          </p:txBody>
        </p:sp>
      </p:grpSp>
      <p:grpSp>
        <p:nvGrpSpPr>
          <p:cNvPr id="26" name="L3 意象层"/>
          <p:cNvGrpSpPr/>
          <p:nvPr/>
        </p:nvGrpSpPr>
        <p:grpSpPr>
          <a:xfrm>
            <a:off x="7635240" y="2788920"/>
            <a:ext cx="3383280" cy="3383280"/>
            <a:chOff x="7635240" y="2788920"/>
            <a:chExt cx="3383280" cy="3383280"/>
          </a:xfrm>
        </p:grpSpPr>
        <p:pic>
          <p:nvPicPr>
            <p:cNvPr id="20" name="L3-煤油灯" descr="obj-lamp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35240" y="2788920"/>
              <a:ext cx="3383280" cy="3383280"/>
            </a:xfrm>
            <a:prstGeom prst="rect">
              <a:avLst/>
            </a:prstGeom>
          </p:spPr>
        </p:pic>
      </p:grpSp>
      <p:grpSp>
        <p:nvGrpSpPr>
          <p:cNvPr id="27" name="L4 特殊意象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3" name="L4-金线角" descr="L4-corne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4" name="L4-尘埃" descr="L4-dus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sp>
          <p:nvSpPr>
            <p:cNvPr id="12" name="L4-细分隔"/>
            <p:cNvSpPr/>
            <p:nvPr/>
          </p:nvSpPr>
          <p:spPr>
            <a:xfrm>
              <a:off x="822960" y="2898648"/>
              <a:ext cx="6400800" cy="7315"/>
            </a:xfrm>
            <a:prstGeom prst="rect">
              <a:avLst/>
            </a:prstGeom>
            <a:solidFill>
              <a:srgbClr val="5A4E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L4-细分隔"/>
            <p:cNvSpPr/>
            <p:nvPr/>
          </p:nvSpPr>
          <p:spPr>
            <a:xfrm>
              <a:off x="822960" y="3767328"/>
              <a:ext cx="6400800" cy="7315"/>
            </a:xfrm>
            <a:prstGeom prst="rect">
              <a:avLst/>
            </a:prstGeom>
            <a:solidFill>
              <a:srgbClr val="5A4E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L4-细分隔"/>
            <p:cNvSpPr/>
            <p:nvPr/>
          </p:nvSpPr>
          <p:spPr>
            <a:xfrm>
              <a:off x="822960" y="4636008"/>
              <a:ext cx="6400800" cy="7315"/>
            </a:xfrm>
            <a:prstGeom prst="rect">
              <a:avLst/>
            </a:prstGeom>
            <a:solidFill>
              <a:srgbClr val="5A4E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1" name="L4-墨迹" descr="L4-ink-splat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22" name="L4-左压暗" descr="L4-left-scrim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23" name="L4-留名印章" descr="L4-seal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012680" y="1920240"/>
              <a:ext cx="868680" cy="8686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3" name="L1 渲染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2" name="L1-渲染底图" descr="L1-montage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  <p:grpSp>
        <p:nvGrpSpPr>
          <p:cNvPr id="34" name="L2 文字层"/>
          <p:cNvGrpSpPr/>
          <p:nvPr/>
        </p:nvGrpSpPr>
        <p:grpSpPr>
          <a:xfrm>
            <a:off x="91440" y="475488"/>
            <a:ext cx="12161520" cy="6254496"/>
            <a:chOff x="91440" y="475488"/>
            <a:chExt cx="12161520" cy="6254496"/>
          </a:xfrm>
        </p:grpSpPr>
        <p:sp>
          <p:nvSpPr>
            <p:cNvPr id="5" name="L2-眉标"/>
            <p:cNvSpPr txBox="1"/>
            <p:nvPr/>
          </p:nvSpPr>
          <p:spPr>
            <a:xfrm>
              <a:off x="777240" y="475488"/>
              <a:ext cx="822960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50" b="0" spc="320">
                  <a:solidFill>
                    <a:srgbClr val="E05C44"/>
                  </a:solidFill>
                  <a:latin typeface="微软雅黑"/>
                </a:rPr>
                <a:t>故事结构</a:t>
              </a:r>
            </a:p>
          </p:txBody>
        </p:sp>
        <p:sp>
          <p:nvSpPr>
            <p:cNvPr id="6" name="L2-主标题"/>
            <p:cNvSpPr txBox="1"/>
            <p:nvPr/>
          </p:nvSpPr>
          <p:spPr>
            <a:xfrm>
              <a:off x="777240" y="841248"/>
              <a:ext cx="10607040" cy="648929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400" b="1" spc="200">
                  <a:solidFill>
                    <a:srgbClr val="EDE6D8"/>
                  </a:solidFill>
                  <a:latin typeface="宋体"/>
                </a:rPr>
                <a:t>六幕，一百四十个场景</a:t>
              </a:r>
            </a:p>
          </p:txBody>
        </p:sp>
        <p:sp>
          <p:nvSpPr>
            <p:cNvPr id="7" name="L2-红色标题线"/>
            <p:cNvSpPr/>
            <p:nvPr/>
          </p:nvSpPr>
          <p:spPr>
            <a:xfrm>
              <a:off x="795528" y="1627632"/>
              <a:ext cx="2377440" cy="25603"/>
            </a:xfrm>
            <a:prstGeom prst="rect">
              <a:avLst/>
            </a:prstGeom>
            <a:solidFill>
              <a:srgbClr val="A3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2-页脚"/>
            <p:cNvSpPr txBox="1"/>
            <p:nvPr/>
          </p:nvSpPr>
          <p:spPr>
            <a:xfrm>
              <a:off x="777240" y="6492240"/>
              <a:ext cx="548640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850" b="0">
                  <a:solidFill>
                    <a:srgbClr val="A89C88"/>
                  </a:solidFill>
                  <a:latin typeface="微软雅黑"/>
                </a:rPr>
                <a:t>把名字留下来 · 四行仓库　｜　作品 460737</a:t>
              </a:r>
            </a:p>
          </p:txBody>
        </p:sp>
        <p:sp>
          <p:nvSpPr>
            <p:cNvPr id="9" name="L2-页码"/>
            <p:cNvSpPr txBox="1"/>
            <p:nvPr/>
          </p:nvSpPr>
          <p:spPr>
            <a:xfrm>
              <a:off x="10881360" y="6492240"/>
              <a:ext cx="54864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r"/>
              <a:r>
                <a:rPr sz="850" b="0">
                  <a:solidFill>
                    <a:srgbClr val="A89C88"/>
                  </a:solidFill>
                  <a:latin typeface="微软雅黑"/>
                </a:rPr>
                <a:t>05 / 19</a:t>
              </a:r>
            </a:p>
          </p:txBody>
        </p:sp>
        <p:sp>
          <p:nvSpPr>
            <p:cNvPr id="10" name="L2-说明"/>
            <p:cNvSpPr txBox="1"/>
            <p:nvPr/>
          </p:nvSpPr>
          <p:spPr>
            <a:xfrm>
              <a:off x="822960" y="1874519"/>
              <a:ext cx="9875520" cy="7315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spc="120">
                  <a:solidFill>
                    <a:srgbClr val="DACEBC"/>
                  </a:solidFill>
                  <a:latin typeface="微软雅黑"/>
                </a:rPr>
                <a:t>一个人的十年，藏在一本册子的夹层里。</a:t>
              </a:r>
            </a:p>
            <a:p>
              <a:pPr algn="l">
                <a:lnSpc>
                  <a:spcPct val="130000"/>
                </a:lnSpc>
              </a:pPr>
              <a:r>
                <a:rPr sz="1500" b="0" spc="120">
                  <a:solidFill>
                    <a:srgbClr val="DACEBC"/>
                  </a:solidFill>
                  <a:latin typeface="微软雅黑"/>
                </a:rPr>
                <a:t>从 1937 到 2025，一场关于「谁被记住」的漫长寻访。</a:t>
              </a:r>
            </a:p>
          </p:txBody>
        </p:sp>
        <p:sp>
          <p:nvSpPr>
            <p:cNvPr id="13" name="L2-年份"/>
            <p:cNvSpPr txBox="1"/>
            <p:nvPr/>
          </p:nvSpPr>
          <p:spPr>
            <a:xfrm>
              <a:off x="91440" y="3593591"/>
              <a:ext cx="1737360" cy="256032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100" b="0" spc="220">
                  <a:solidFill>
                    <a:srgbClr val="C8A063"/>
                  </a:solidFill>
                  <a:latin typeface="微软雅黑"/>
                </a:rPr>
                <a:t>1947</a:t>
              </a:r>
            </a:p>
          </p:txBody>
        </p:sp>
        <p:sp>
          <p:nvSpPr>
            <p:cNvPr id="14" name="L2-幕名"/>
            <p:cNvSpPr txBox="1"/>
            <p:nvPr/>
          </p:nvSpPr>
          <p:spPr>
            <a:xfrm>
              <a:off x="91440" y="4398264"/>
              <a:ext cx="173736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300" b="0" spc="120">
                  <a:solidFill>
                    <a:srgbClr val="D8CCBA"/>
                  </a:solidFill>
                  <a:latin typeface="宋体"/>
                </a:rPr>
                <a:t>造册前夜</a:t>
              </a:r>
            </a:p>
          </p:txBody>
        </p:sp>
        <p:sp>
          <p:nvSpPr>
            <p:cNvPr id="16" name="L2-年份"/>
            <p:cNvSpPr txBox="1"/>
            <p:nvPr/>
          </p:nvSpPr>
          <p:spPr>
            <a:xfrm>
              <a:off x="2176272" y="3593591"/>
              <a:ext cx="1737360" cy="256032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100" b="0" spc="220">
                  <a:solidFill>
                    <a:srgbClr val="C8A063"/>
                  </a:solidFill>
                  <a:latin typeface="微软雅黑"/>
                </a:rPr>
                <a:t>1937 · 8</a:t>
              </a:r>
            </a:p>
          </p:txBody>
        </p:sp>
        <p:sp>
          <p:nvSpPr>
            <p:cNvPr id="17" name="L2-幕名"/>
            <p:cNvSpPr txBox="1"/>
            <p:nvPr/>
          </p:nvSpPr>
          <p:spPr>
            <a:xfrm>
              <a:off x="2176272" y="4398264"/>
              <a:ext cx="173736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300" b="0" spc="120">
                  <a:solidFill>
                    <a:srgbClr val="D8CCBA"/>
                  </a:solidFill>
                  <a:latin typeface="宋体"/>
                </a:rPr>
                <a:t>通城整编</a:t>
              </a:r>
            </a:p>
          </p:txBody>
        </p:sp>
        <p:sp>
          <p:nvSpPr>
            <p:cNvPr id="19" name="L2-年份"/>
            <p:cNvSpPr txBox="1"/>
            <p:nvPr/>
          </p:nvSpPr>
          <p:spPr>
            <a:xfrm>
              <a:off x="4261103" y="3593591"/>
              <a:ext cx="1737360" cy="256032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100" b="0" spc="220">
                  <a:solidFill>
                    <a:srgbClr val="E05C44"/>
                  </a:solidFill>
                  <a:latin typeface="微软雅黑"/>
                </a:rPr>
                <a:t>1937 · 10</a:t>
              </a:r>
            </a:p>
          </p:txBody>
        </p:sp>
        <p:sp>
          <p:nvSpPr>
            <p:cNvPr id="20" name="L2-幕名"/>
            <p:cNvSpPr txBox="1"/>
            <p:nvPr/>
          </p:nvSpPr>
          <p:spPr>
            <a:xfrm>
              <a:off x="4261103" y="4398264"/>
              <a:ext cx="173736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400" b="0" spc="120">
                  <a:solidFill>
                    <a:srgbClr val="EDE6D8"/>
                  </a:solidFill>
                  <a:latin typeface="宋体"/>
                </a:rPr>
                <a:t>四行五夜</a:t>
              </a:r>
            </a:p>
          </p:txBody>
        </p:sp>
        <p:sp>
          <p:nvSpPr>
            <p:cNvPr id="22" name="L2-年份"/>
            <p:cNvSpPr txBox="1"/>
            <p:nvPr/>
          </p:nvSpPr>
          <p:spPr>
            <a:xfrm>
              <a:off x="6345936" y="3593591"/>
              <a:ext cx="1737360" cy="256032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100" b="0" spc="220">
                  <a:solidFill>
                    <a:srgbClr val="C8A063"/>
                  </a:solidFill>
                  <a:latin typeface="微软雅黑"/>
                </a:rPr>
                <a:t>1937—41</a:t>
              </a:r>
            </a:p>
          </p:txBody>
        </p:sp>
        <p:sp>
          <p:nvSpPr>
            <p:cNvPr id="23" name="L2-幕名"/>
            <p:cNvSpPr txBox="1"/>
            <p:nvPr/>
          </p:nvSpPr>
          <p:spPr>
            <a:xfrm>
              <a:off x="6345936" y="4398264"/>
              <a:ext cx="173736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300" b="0" spc="120">
                  <a:solidFill>
                    <a:srgbClr val="D8CCBA"/>
                  </a:solidFill>
                  <a:latin typeface="宋体"/>
                </a:rPr>
                <a:t>孤军营四年</a:t>
              </a:r>
            </a:p>
          </p:txBody>
        </p:sp>
        <p:sp>
          <p:nvSpPr>
            <p:cNvPr id="25" name="L2-年份"/>
            <p:cNvSpPr txBox="1"/>
            <p:nvPr/>
          </p:nvSpPr>
          <p:spPr>
            <a:xfrm>
              <a:off x="8430768" y="3593591"/>
              <a:ext cx="1737360" cy="256032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100" b="0" spc="220">
                  <a:solidFill>
                    <a:srgbClr val="C8A063"/>
                  </a:solidFill>
                  <a:latin typeface="微软雅黑"/>
                </a:rPr>
                <a:t>1947</a:t>
              </a:r>
            </a:p>
          </p:txBody>
        </p:sp>
        <p:sp>
          <p:nvSpPr>
            <p:cNvPr id="26" name="L2-幕名"/>
            <p:cNvSpPr txBox="1"/>
            <p:nvPr/>
          </p:nvSpPr>
          <p:spPr>
            <a:xfrm>
              <a:off x="8430768" y="4398264"/>
              <a:ext cx="173736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300" b="0" spc="120">
                  <a:solidFill>
                    <a:srgbClr val="D8CCBA"/>
                  </a:solidFill>
                  <a:latin typeface="宋体"/>
                </a:rPr>
                <a:t>造册</a:t>
              </a:r>
            </a:p>
          </p:txBody>
        </p:sp>
        <p:sp>
          <p:nvSpPr>
            <p:cNvPr id="28" name="L2-年份"/>
            <p:cNvSpPr txBox="1"/>
            <p:nvPr/>
          </p:nvSpPr>
          <p:spPr>
            <a:xfrm>
              <a:off x="10515600" y="3593591"/>
              <a:ext cx="1737360" cy="256032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100" b="0" spc="220">
                  <a:solidFill>
                    <a:srgbClr val="E05C44"/>
                  </a:solidFill>
                  <a:latin typeface="微软雅黑"/>
                </a:rPr>
                <a:t>1980—2025</a:t>
              </a:r>
            </a:p>
          </p:txBody>
        </p:sp>
        <p:sp>
          <p:nvSpPr>
            <p:cNvPr id="29" name="L2-幕名"/>
            <p:cNvSpPr txBox="1"/>
            <p:nvPr/>
          </p:nvSpPr>
          <p:spPr>
            <a:xfrm>
              <a:off x="10515600" y="4398264"/>
              <a:ext cx="173736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400" b="0" spc="120">
                  <a:solidFill>
                    <a:srgbClr val="EDE6D8"/>
                  </a:solidFill>
                  <a:latin typeface="宋体"/>
                </a:rPr>
                <a:t>九结局</a:t>
              </a:r>
            </a:p>
          </p:txBody>
        </p:sp>
        <p:sp>
          <p:nvSpPr>
            <p:cNvPr id="30" name="L2-脚注"/>
            <p:cNvSpPr txBox="1"/>
            <p:nvPr/>
          </p:nvSpPr>
          <p:spPr>
            <a:xfrm>
              <a:off x="960120" y="5806440"/>
              <a:ext cx="9875520" cy="3657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80">
                  <a:solidFill>
                    <a:srgbClr val="BCB09E"/>
                  </a:solidFill>
                  <a:latin typeface="微软雅黑"/>
                </a:rPr>
                <a:t>主链 115 个场景可走通；另有 25 个场景在人物志 / 后来 / 史料库中展开。</a:t>
              </a:r>
            </a:p>
          </p:txBody>
        </p:sp>
      </p:grpSp>
      <p:grpSp>
        <p:nvGrpSpPr>
          <p:cNvPr id="35" name="L3 意象层"/>
          <p:cNvGrpSpPr/>
          <p:nvPr/>
        </p:nvGrpSpPr>
        <p:grpSpPr>
          <a:xfrm>
            <a:off x="905256" y="4114800"/>
            <a:ext cx="10533887" cy="109728"/>
            <a:chOff x="905256" y="4114800"/>
            <a:chExt cx="10533887" cy="109728"/>
          </a:xfrm>
        </p:grpSpPr>
        <p:sp>
          <p:nvSpPr>
            <p:cNvPr id="11" name="L3-时间轴"/>
            <p:cNvSpPr/>
            <p:nvPr/>
          </p:nvSpPr>
          <p:spPr>
            <a:xfrm>
              <a:off x="960120" y="4160520"/>
              <a:ext cx="10424159" cy="14630"/>
            </a:xfrm>
            <a:prstGeom prst="rect">
              <a:avLst/>
            </a:prstGeom>
            <a:solidFill>
              <a:srgbClr val="C8A0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L3-节点"/>
            <p:cNvSpPr/>
            <p:nvPr/>
          </p:nvSpPr>
          <p:spPr>
            <a:xfrm>
              <a:off x="905256" y="4114800"/>
              <a:ext cx="109728" cy="109728"/>
            </a:xfrm>
            <a:prstGeom prst="rect">
              <a:avLst/>
            </a:prstGeom>
            <a:solidFill>
              <a:srgbClr val="C8A0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L3-节点"/>
            <p:cNvSpPr/>
            <p:nvPr/>
          </p:nvSpPr>
          <p:spPr>
            <a:xfrm>
              <a:off x="2990088" y="4114800"/>
              <a:ext cx="109728" cy="109728"/>
            </a:xfrm>
            <a:prstGeom prst="rect">
              <a:avLst/>
            </a:prstGeom>
            <a:solidFill>
              <a:srgbClr val="C8A0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L3-节点"/>
            <p:cNvSpPr/>
            <p:nvPr/>
          </p:nvSpPr>
          <p:spPr>
            <a:xfrm>
              <a:off x="5074920" y="4114800"/>
              <a:ext cx="109728" cy="109728"/>
            </a:xfrm>
            <a:prstGeom prst="rect">
              <a:avLst/>
            </a:prstGeom>
            <a:solidFill>
              <a:srgbClr val="E05C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L3-节点"/>
            <p:cNvSpPr/>
            <p:nvPr/>
          </p:nvSpPr>
          <p:spPr>
            <a:xfrm>
              <a:off x="7159752" y="4114800"/>
              <a:ext cx="109728" cy="109728"/>
            </a:xfrm>
            <a:prstGeom prst="rect">
              <a:avLst/>
            </a:prstGeom>
            <a:solidFill>
              <a:srgbClr val="C8A0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L3-节点"/>
            <p:cNvSpPr/>
            <p:nvPr/>
          </p:nvSpPr>
          <p:spPr>
            <a:xfrm>
              <a:off x="9244584" y="4114800"/>
              <a:ext cx="109728" cy="109728"/>
            </a:xfrm>
            <a:prstGeom prst="rect">
              <a:avLst/>
            </a:prstGeom>
            <a:solidFill>
              <a:srgbClr val="C8A0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L3-节点"/>
            <p:cNvSpPr/>
            <p:nvPr/>
          </p:nvSpPr>
          <p:spPr>
            <a:xfrm>
              <a:off x="11329415" y="4114800"/>
              <a:ext cx="109728" cy="109728"/>
            </a:xfrm>
            <a:prstGeom prst="rect">
              <a:avLst/>
            </a:prstGeom>
            <a:solidFill>
              <a:srgbClr val="E05C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" name="L4 特殊意象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3" name="L4-金线角" descr="L4-corne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4" name="L4-尘埃" descr="L4-dus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31" name="L4-左压暗" descr="L4-left-scrim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32" name="L4-朱砂" descr="L4-red-splat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595360" y="1097280"/>
              <a:ext cx="3566160" cy="20116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9" name="L1 渲染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2" name="L1-渲染底图" descr="L1-warehouse-night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  <p:grpSp>
        <p:nvGrpSpPr>
          <p:cNvPr id="30" name="L2 文字层"/>
          <p:cNvGrpSpPr/>
          <p:nvPr/>
        </p:nvGrpSpPr>
        <p:grpSpPr>
          <a:xfrm>
            <a:off x="777240" y="475488"/>
            <a:ext cx="10652760" cy="6254496"/>
            <a:chOff x="777240" y="475488"/>
            <a:chExt cx="10652760" cy="6254496"/>
          </a:xfrm>
        </p:grpSpPr>
        <p:sp>
          <p:nvSpPr>
            <p:cNvPr id="5" name="L2-眉标"/>
            <p:cNvSpPr txBox="1"/>
            <p:nvPr/>
          </p:nvSpPr>
          <p:spPr>
            <a:xfrm>
              <a:off x="777240" y="475488"/>
              <a:ext cx="822960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50" b="0" spc="320">
                  <a:solidFill>
                    <a:srgbClr val="E05C44"/>
                  </a:solidFill>
                  <a:latin typeface="微软雅黑"/>
                </a:rPr>
                <a:t>核心玩法</a:t>
              </a:r>
            </a:p>
          </p:txBody>
        </p:sp>
        <p:sp>
          <p:nvSpPr>
            <p:cNvPr id="6" name="L2-主标题"/>
            <p:cNvSpPr txBox="1"/>
            <p:nvPr/>
          </p:nvSpPr>
          <p:spPr>
            <a:xfrm>
              <a:off x="777240" y="841248"/>
              <a:ext cx="10607040" cy="56043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3800" b="1" spc="200">
                  <a:solidFill>
                    <a:srgbClr val="EDE6D8"/>
                  </a:solidFill>
                  <a:latin typeface="宋体"/>
                </a:rPr>
                <a:t>五个夜晚，每一次只能带一样东西过河</a:t>
              </a:r>
            </a:p>
          </p:txBody>
        </p:sp>
        <p:sp>
          <p:nvSpPr>
            <p:cNvPr id="7" name="L2-红色标题线"/>
            <p:cNvSpPr/>
            <p:nvPr/>
          </p:nvSpPr>
          <p:spPr>
            <a:xfrm>
              <a:off x="795528" y="1627632"/>
              <a:ext cx="2377440" cy="25603"/>
            </a:xfrm>
            <a:prstGeom prst="rect">
              <a:avLst/>
            </a:prstGeom>
            <a:solidFill>
              <a:srgbClr val="A3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2-页脚"/>
            <p:cNvSpPr txBox="1"/>
            <p:nvPr/>
          </p:nvSpPr>
          <p:spPr>
            <a:xfrm>
              <a:off x="777240" y="6492240"/>
              <a:ext cx="548640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850" b="0">
                  <a:solidFill>
                    <a:srgbClr val="A89C88"/>
                  </a:solidFill>
                  <a:latin typeface="微软雅黑"/>
                </a:rPr>
                <a:t>把名字留下来 · 四行仓库　｜　作品 460737</a:t>
              </a:r>
            </a:p>
          </p:txBody>
        </p:sp>
        <p:sp>
          <p:nvSpPr>
            <p:cNvPr id="9" name="L2-页码"/>
            <p:cNvSpPr txBox="1"/>
            <p:nvPr/>
          </p:nvSpPr>
          <p:spPr>
            <a:xfrm>
              <a:off x="10881360" y="6492240"/>
              <a:ext cx="54864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r"/>
              <a:r>
                <a:rPr sz="850" b="0">
                  <a:solidFill>
                    <a:srgbClr val="A89C88"/>
                  </a:solidFill>
                  <a:latin typeface="微软雅黑"/>
                </a:rPr>
                <a:t>06 / 19</a:t>
              </a:r>
            </a:p>
          </p:txBody>
        </p:sp>
        <p:sp>
          <p:nvSpPr>
            <p:cNvPr id="10" name="L2-载体"/>
            <p:cNvSpPr txBox="1"/>
            <p:nvPr/>
          </p:nvSpPr>
          <p:spPr>
            <a:xfrm>
              <a:off x="822960" y="2880360"/>
              <a:ext cx="1188720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900" b="0" spc="200">
                  <a:solidFill>
                    <a:srgbClr val="EDE6D8"/>
                  </a:solidFill>
                  <a:latin typeface="宋体"/>
                </a:rPr>
                <a:t>名册</a:t>
              </a:r>
            </a:p>
          </p:txBody>
        </p:sp>
        <p:sp>
          <p:nvSpPr>
            <p:cNvPr id="11" name="L2-载体编号"/>
            <p:cNvSpPr txBox="1"/>
            <p:nvPr/>
          </p:nvSpPr>
          <p:spPr>
            <a:xfrm>
              <a:off x="822960" y="3300984"/>
              <a:ext cx="118872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900" b="0">
                  <a:solidFill>
                    <a:srgbClr val="A89C88"/>
                  </a:solidFill>
                  <a:latin typeface="微软雅黑"/>
                </a:rPr>
                <a:t>01</a:t>
              </a:r>
            </a:p>
          </p:txBody>
        </p:sp>
        <p:sp>
          <p:nvSpPr>
            <p:cNvPr id="12" name="L2-载体"/>
            <p:cNvSpPr txBox="1"/>
            <p:nvPr/>
          </p:nvSpPr>
          <p:spPr>
            <a:xfrm>
              <a:off x="2121408" y="2880360"/>
              <a:ext cx="1188720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900" b="0" spc="200">
                  <a:solidFill>
                    <a:srgbClr val="EDE6D8"/>
                  </a:solidFill>
                  <a:latin typeface="宋体"/>
                </a:rPr>
                <a:t>家书</a:t>
              </a:r>
            </a:p>
          </p:txBody>
        </p:sp>
        <p:sp>
          <p:nvSpPr>
            <p:cNvPr id="13" name="L2-载体编号"/>
            <p:cNvSpPr txBox="1"/>
            <p:nvPr/>
          </p:nvSpPr>
          <p:spPr>
            <a:xfrm>
              <a:off x="2121408" y="3300984"/>
              <a:ext cx="118872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900" b="0">
                  <a:solidFill>
                    <a:srgbClr val="A89C88"/>
                  </a:solidFill>
                  <a:latin typeface="微软雅黑"/>
                </a:rPr>
                <a:t>02</a:t>
              </a:r>
            </a:p>
          </p:txBody>
        </p:sp>
        <p:sp>
          <p:nvSpPr>
            <p:cNvPr id="14" name="L2-载体"/>
            <p:cNvSpPr txBox="1"/>
            <p:nvPr/>
          </p:nvSpPr>
          <p:spPr>
            <a:xfrm>
              <a:off x="3419856" y="2880360"/>
              <a:ext cx="1188720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900" b="0" spc="200">
                  <a:solidFill>
                    <a:srgbClr val="EDE6D8"/>
                  </a:solidFill>
                  <a:latin typeface="宋体"/>
                </a:rPr>
                <a:t>旗</a:t>
              </a:r>
            </a:p>
          </p:txBody>
        </p:sp>
        <p:sp>
          <p:nvSpPr>
            <p:cNvPr id="15" name="L2-载体编号"/>
            <p:cNvSpPr txBox="1"/>
            <p:nvPr/>
          </p:nvSpPr>
          <p:spPr>
            <a:xfrm>
              <a:off x="3419856" y="3300984"/>
              <a:ext cx="118872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900" b="0">
                  <a:solidFill>
                    <a:srgbClr val="A89C88"/>
                  </a:solidFill>
                  <a:latin typeface="微软雅黑"/>
                </a:rPr>
                <a:t>03</a:t>
              </a:r>
            </a:p>
          </p:txBody>
        </p:sp>
        <p:sp>
          <p:nvSpPr>
            <p:cNvPr id="16" name="L2-载体"/>
            <p:cNvSpPr txBox="1"/>
            <p:nvPr/>
          </p:nvSpPr>
          <p:spPr>
            <a:xfrm>
              <a:off x="4718304" y="2880360"/>
              <a:ext cx="1188720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900" b="0" spc="200">
                  <a:solidFill>
                    <a:srgbClr val="EDE6D8"/>
                  </a:solidFill>
                  <a:latin typeface="宋体"/>
                </a:rPr>
                <a:t>照片</a:t>
              </a:r>
            </a:p>
          </p:txBody>
        </p:sp>
        <p:sp>
          <p:nvSpPr>
            <p:cNvPr id="17" name="L2-载体编号"/>
            <p:cNvSpPr txBox="1"/>
            <p:nvPr/>
          </p:nvSpPr>
          <p:spPr>
            <a:xfrm>
              <a:off x="4718304" y="3300984"/>
              <a:ext cx="118872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900" b="0">
                  <a:solidFill>
                    <a:srgbClr val="A89C88"/>
                  </a:solidFill>
                  <a:latin typeface="微软雅黑"/>
                </a:rPr>
                <a:t>04</a:t>
              </a:r>
            </a:p>
          </p:txBody>
        </p:sp>
        <p:sp>
          <p:nvSpPr>
            <p:cNvPr id="18" name="L2-载体"/>
            <p:cNvSpPr txBox="1"/>
            <p:nvPr/>
          </p:nvSpPr>
          <p:spPr>
            <a:xfrm>
              <a:off x="6016752" y="2880360"/>
              <a:ext cx="1188720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900" b="0" spc="200">
                  <a:solidFill>
                    <a:srgbClr val="EDE6D8"/>
                  </a:solidFill>
                  <a:latin typeface="宋体"/>
                </a:rPr>
                <a:t>口述</a:t>
              </a:r>
            </a:p>
          </p:txBody>
        </p:sp>
        <p:sp>
          <p:nvSpPr>
            <p:cNvPr id="19" name="L2-载体编号"/>
            <p:cNvSpPr txBox="1"/>
            <p:nvPr/>
          </p:nvSpPr>
          <p:spPr>
            <a:xfrm>
              <a:off x="6016752" y="3300984"/>
              <a:ext cx="118872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900" b="0">
                  <a:solidFill>
                    <a:srgbClr val="A89C88"/>
                  </a:solidFill>
                  <a:latin typeface="微软雅黑"/>
                </a:rPr>
                <a:t>05</a:t>
              </a:r>
            </a:p>
          </p:txBody>
        </p:sp>
        <p:sp>
          <p:nvSpPr>
            <p:cNvPr id="20" name="L2-载体"/>
            <p:cNvSpPr txBox="1"/>
            <p:nvPr/>
          </p:nvSpPr>
          <p:spPr>
            <a:xfrm>
              <a:off x="7315200" y="2880360"/>
              <a:ext cx="1188720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900" b="0" spc="200">
                  <a:solidFill>
                    <a:srgbClr val="EDE6D8"/>
                  </a:solidFill>
                  <a:latin typeface="宋体"/>
                </a:rPr>
                <a:t>口信</a:t>
              </a:r>
            </a:p>
          </p:txBody>
        </p:sp>
        <p:sp>
          <p:nvSpPr>
            <p:cNvPr id="21" name="L2-载体编号"/>
            <p:cNvSpPr txBox="1"/>
            <p:nvPr/>
          </p:nvSpPr>
          <p:spPr>
            <a:xfrm>
              <a:off x="7315200" y="3300984"/>
              <a:ext cx="118872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900" b="0">
                  <a:solidFill>
                    <a:srgbClr val="A89C88"/>
                  </a:solidFill>
                  <a:latin typeface="微软雅黑"/>
                </a:rPr>
                <a:t>06</a:t>
              </a:r>
            </a:p>
          </p:txBody>
        </p:sp>
        <p:sp>
          <p:nvSpPr>
            <p:cNvPr id="23" name="L2-河名"/>
            <p:cNvSpPr txBox="1"/>
            <p:nvPr/>
          </p:nvSpPr>
          <p:spPr>
            <a:xfrm>
              <a:off x="8915400" y="3584448"/>
              <a:ext cx="237744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00" b="0" spc="300">
                  <a:solidFill>
                    <a:srgbClr val="CE7864"/>
                  </a:solidFill>
                  <a:latin typeface="微软雅黑"/>
                </a:rPr>
                <a:t>苏州河</a:t>
              </a:r>
            </a:p>
          </p:txBody>
        </p:sp>
        <p:sp>
          <p:nvSpPr>
            <p:cNvPr id="24" name="L2-说明"/>
            <p:cNvSpPr txBox="1"/>
            <p:nvPr/>
          </p:nvSpPr>
          <p:spPr>
            <a:xfrm>
              <a:off x="822960" y="3977639"/>
              <a:ext cx="6766560" cy="9144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600" b="0" spc="120">
                  <a:solidFill>
                    <a:srgbClr val="DACEBC"/>
                  </a:solidFill>
                  <a:latin typeface="微软雅黑"/>
                </a:rPr>
                <a:t>你带出去什么，什么就活下来。</a:t>
              </a:r>
            </a:p>
            <a:p>
              <a:pPr algn="l"/>
              <a:r>
                <a:rPr sz="1600" b="0" spc="120">
                  <a:solidFill>
                    <a:srgbClr val="DACEBC"/>
                  </a:solidFill>
                  <a:latin typeface="微软雅黑"/>
                </a:rPr>
                <a:t>两样同时带走，才解锁第三个结局。</a:t>
              </a:r>
            </a:p>
          </p:txBody>
        </p:sp>
      </p:grpSp>
      <p:grpSp>
        <p:nvGrpSpPr>
          <p:cNvPr id="31" name="L3 意象层"/>
          <p:cNvGrpSpPr/>
          <p:nvPr/>
        </p:nvGrpSpPr>
        <p:grpSpPr>
          <a:xfrm>
            <a:off x="822960" y="3675887"/>
            <a:ext cx="10607040" cy="2907793"/>
            <a:chOff x="822960" y="3675887"/>
            <a:chExt cx="10607040" cy="2907793"/>
          </a:xfrm>
        </p:grpSpPr>
        <p:sp>
          <p:nvSpPr>
            <p:cNvPr id="22" name="L3-苏州河线"/>
            <p:cNvSpPr/>
            <p:nvPr/>
          </p:nvSpPr>
          <p:spPr>
            <a:xfrm>
              <a:off x="822960" y="3675887"/>
              <a:ext cx="7863840" cy="18288"/>
            </a:xfrm>
            <a:prstGeom prst="rect">
              <a:avLst/>
            </a:prstGeom>
            <a:solidFill>
              <a:srgbClr val="A3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5" name="L3-家书" descr="obj-letter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40000">
              <a:off x="7452360" y="4617720"/>
              <a:ext cx="1965960" cy="1965960"/>
            </a:xfrm>
            <a:prstGeom prst="rect">
              <a:avLst/>
            </a:prstGeom>
          </p:spPr>
        </p:pic>
        <p:pic>
          <p:nvPicPr>
            <p:cNvPr id="26" name="L3-旗" descr="obj-flag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360000">
              <a:off x="9281160" y="4434840"/>
              <a:ext cx="2148840" cy="2148840"/>
            </a:xfrm>
            <a:prstGeom prst="rect">
              <a:avLst/>
            </a:prstGeom>
          </p:spPr>
        </p:pic>
      </p:grpSp>
      <p:grpSp>
        <p:nvGrpSpPr>
          <p:cNvPr id="32" name="L4 特殊意象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3" name="L4-金线角" descr="L4-corne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4" name="L4-尘埃" descr="L4-dus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27" name="L4-左下压暗" descr="L4-scrim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28" name="L4-留名印章" descr="L4-seal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835640" y="5074920"/>
              <a:ext cx="822960" cy="8229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4" name="L1 渲染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2" name="L1-渲染底图" descr="L1-ink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  <p:grpSp>
        <p:nvGrpSpPr>
          <p:cNvPr id="25" name="L2 文字层"/>
          <p:cNvGrpSpPr/>
          <p:nvPr/>
        </p:nvGrpSpPr>
        <p:grpSpPr>
          <a:xfrm>
            <a:off x="777240" y="475488"/>
            <a:ext cx="11247120" cy="6254496"/>
            <a:chOff x="777240" y="475488"/>
            <a:chExt cx="11247120" cy="6254496"/>
          </a:xfrm>
        </p:grpSpPr>
        <p:sp>
          <p:nvSpPr>
            <p:cNvPr id="5" name="L2-眉标"/>
            <p:cNvSpPr txBox="1"/>
            <p:nvPr/>
          </p:nvSpPr>
          <p:spPr>
            <a:xfrm>
              <a:off x="777240" y="475488"/>
              <a:ext cx="822960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50" b="0" spc="320">
                  <a:solidFill>
                    <a:srgbClr val="E05C44"/>
                  </a:solidFill>
                  <a:latin typeface="微软雅黑"/>
                </a:rPr>
                <a:t>实机画面</a:t>
              </a:r>
            </a:p>
          </p:txBody>
        </p:sp>
        <p:sp>
          <p:nvSpPr>
            <p:cNvPr id="6" name="L2-主标题"/>
            <p:cNvSpPr txBox="1"/>
            <p:nvPr/>
          </p:nvSpPr>
          <p:spPr>
            <a:xfrm>
              <a:off x="777240" y="841248"/>
              <a:ext cx="10607040" cy="619432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200" b="1" spc="200">
                  <a:solidFill>
                    <a:srgbClr val="EDE6D8"/>
                  </a:solidFill>
                  <a:latin typeface="宋体"/>
                </a:rPr>
                <a:t>实机整屏</a:t>
              </a:r>
            </a:p>
          </p:txBody>
        </p:sp>
        <p:sp>
          <p:nvSpPr>
            <p:cNvPr id="7" name="L2-红色标题线"/>
            <p:cNvSpPr/>
            <p:nvPr/>
          </p:nvSpPr>
          <p:spPr>
            <a:xfrm>
              <a:off x="795528" y="1627632"/>
              <a:ext cx="2377440" cy="25603"/>
            </a:xfrm>
            <a:prstGeom prst="rect">
              <a:avLst/>
            </a:prstGeom>
            <a:solidFill>
              <a:srgbClr val="A3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2-页脚"/>
            <p:cNvSpPr txBox="1"/>
            <p:nvPr/>
          </p:nvSpPr>
          <p:spPr>
            <a:xfrm>
              <a:off x="777240" y="6492240"/>
              <a:ext cx="548640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850" b="0">
                  <a:solidFill>
                    <a:srgbClr val="A89C88"/>
                  </a:solidFill>
                  <a:latin typeface="微软雅黑"/>
                </a:rPr>
                <a:t>把名字留下来 · 四行仓库　｜　作品 460737</a:t>
              </a:r>
            </a:p>
          </p:txBody>
        </p:sp>
        <p:sp>
          <p:nvSpPr>
            <p:cNvPr id="9" name="L2-页码"/>
            <p:cNvSpPr txBox="1"/>
            <p:nvPr/>
          </p:nvSpPr>
          <p:spPr>
            <a:xfrm>
              <a:off x="10881360" y="6492240"/>
              <a:ext cx="54864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r"/>
              <a:r>
                <a:rPr sz="850" b="0">
                  <a:solidFill>
                    <a:srgbClr val="A89C88"/>
                  </a:solidFill>
                  <a:latin typeface="微软雅黑"/>
                </a:rPr>
                <a:t>07 / 19</a:t>
              </a:r>
            </a:p>
          </p:txBody>
        </p:sp>
        <p:sp>
          <p:nvSpPr>
            <p:cNvPr id="10" name="L2-说明"/>
            <p:cNvSpPr txBox="1"/>
            <p:nvPr/>
          </p:nvSpPr>
          <p:spPr>
            <a:xfrm>
              <a:off x="822960" y="1810512"/>
              <a:ext cx="5486400" cy="310896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00" b="0" spc="120">
                  <a:solidFill>
                    <a:srgbClr val="A89C88"/>
                  </a:solidFill>
                  <a:latin typeface="微软雅黑"/>
                </a:rPr>
                <a:t>真实运行截图（线上定稿版），1920×1080</a:t>
              </a:r>
            </a:p>
          </p:txBody>
        </p:sp>
        <p:sp>
          <p:nvSpPr>
            <p:cNvPr id="16" name="L2-标注"/>
            <p:cNvSpPr txBox="1"/>
            <p:nvPr/>
          </p:nvSpPr>
          <p:spPr>
            <a:xfrm>
              <a:off x="10287000" y="2331720"/>
              <a:ext cx="1737360" cy="7315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8000"/>
                </a:lnSpc>
              </a:pPr>
              <a:r>
                <a:rPr sz="1150" b="0">
                  <a:solidFill>
                    <a:srgbClr val="E0D4C0"/>
                  </a:solidFill>
                  <a:latin typeface="微软雅黑"/>
                </a:rPr>
                <a:t>场景正文：宋体正文 + 史料 chip</a:t>
              </a:r>
            </a:p>
          </p:txBody>
        </p:sp>
        <p:sp>
          <p:nvSpPr>
            <p:cNvPr id="18" name="L2-标注"/>
            <p:cNvSpPr txBox="1"/>
            <p:nvPr/>
          </p:nvSpPr>
          <p:spPr>
            <a:xfrm>
              <a:off x="10287000" y="3264408"/>
              <a:ext cx="1737360" cy="7315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8000"/>
                </a:lnSpc>
              </a:pPr>
              <a:r>
                <a:rPr sz="1150" b="0">
                  <a:solidFill>
                    <a:srgbClr val="E0D4C0"/>
                  </a:solidFill>
                  <a:latin typeface="微软雅黑"/>
                </a:rPr>
                <a:t>选项：数字键 1—9 可选</a:t>
              </a:r>
            </a:p>
          </p:txBody>
        </p:sp>
        <p:sp>
          <p:nvSpPr>
            <p:cNvPr id="20" name="L2-标注"/>
            <p:cNvSpPr txBox="1"/>
            <p:nvPr/>
          </p:nvSpPr>
          <p:spPr>
            <a:xfrm>
              <a:off x="10287000" y="4197096"/>
              <a:ext cx="1737360" cy="7315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8000"/>
                </a:lnSpc>
              </a:pPr>
              <a:r>
                <a:rPr sz="1150" b="0">
                  <a:solidFill>
                    <a:srgbClr val="E0D4C0"/>
                  </a:solidFill>
                  <a:latin typeface="微软雅黑"/>
                </a:rPr>
                <a:t>右上：3D 视角入口</a:t>
              </a:r>
            </a:p>
          </p:txBody>
        </p:sp>
        <p:sp>
          <p:nvSpPr>
            <p:cNvPr id="22" name="L2-标注"/>
            <p:cNvSpPr txBox="1"/>
            <p:nvPr/>
          </p:nvSpPr>
          <p:spPr>
            <a:xfrm>
              <a:off x="10287000" y="5129783"/>
              <a:ext cx="1737360" cy="7315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8000"/>
                </a:lnSpc>
              </a:pPr>
              <a:r>
                <a:rPr sz="1150" b="0">
                  <a:solidFill>
                    <a:srgbClr val="E0D4C0"/>
                  </a:solidFill>
                  <a:latin typeface="微软雅黑"/>
                </a:rPr>
                <a:t>右下：声音开关（默认静音）</a:t>
              </a:r>
            </a:p>
          </p:txBody>
        </p:sp>
      </p:grpSp>
      <p:grpSp>
        <p:nvGrpSpPr>
          <p:cNvPr id="26" name="L3 意象层"/>
          <p:cNvGrpSpPr/>
          <p:nvPr/>
        </p:nvGrpSpPr>
        <p:grpSpPr>
          <a:xfrm>
            <a:off x="777240" y="2240280"/>
            <a:ext cx="8961120" cy="5038344"/>
            <a:chOff x="777240" y="2240280"/>
            <a:chExt cx="8961120" cy="5038344"/>
          </a:xfrm>
        </p:grpSpPr>
        <p:sp>
          <p:nvSpPr>
            <p:cNvPr id="11" name="L3-截图占位框"/>
            <p:cNvSpPr/>
            <p:nvPr/>
          </p:nvSpPr>
          <p:spPr>
            <a:xfrm>
              <a:off x="777240" y="2240280"/>
              <a:ext cx="8961120" cy="5038344"/>
            </a:xfrm>
            <a:prstGeom prst="rect">
              <a:avLst/>
            </a:prstGeom>
            <a:noFill/>
            <a:ln w="15240">
              <a:solidFill>
                <a:srgbClr val="C8A063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L3-占位提示"/>
            <p:cNvSpPr txBox="1"/>
            <p:nvPr/>
          </p:nvSpPr>
          <p:spPr>
            <a:xfrm>
              <a:off x="3794760" y="4375404"/>
              <a:ext cx="292608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100" b="0">
                  <a:solidFill>
                    <a:srgbClr val="C8A063"/>
                  </a:solidFill>
                  <a:latin typeface="微软雅黑"/>
                </a:rPr>
                <a:t>此处放真实运行截图</a:t>
              </a:r>
            </a:p>
          </p:txBody>
        </p:sp>
        <p:sp>
          <p:nvSpPr>
            <p:cNvPr id="13" name="L3-占位文件名"/>
            <p:cNvSpPr txBox="1"/>
            <p:nvPr/>
          </p:nvSpPr>
          <p:spPr>
            <a:xfrm>
              <a:off x="3794760" y="4686300"/>
              <a:ext cx="292608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300" b="0">
                  <a:solidFill>
                    <a:srgbClr val="E05C44"/>
                  </a:solidFill>
                  <a:latin typeface="微软雅黑"/>
                </a:rPr>
                <a:t>shot-03-choices.png</a:t>
              </a:r>
            </a:p>
          </p:txBody>
        </p:sp>
        <p:sp>
          <p:nvSpPr>
            <p:cNvPr id="14" name="L3-占位尺寸"/>
            <p:cNvSpPr txBox="1"/>
            <p:nvPr/>
          </p:nvSpPr>
          <p:spPr>
            <a:xfrm>
              <a:off x="3794760" y="4978908"/>
              <a:ext cx="292608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000" b="0">
                  <a:solidFill>
                    <a:srgbClr val="A89C88"/>
                  </a:solidFill>
                  <a:latin typeface="微软雅黑"/>
                </a:rPr>
                <a:t>1920 × 1080</a:t>
              </a:r>
            </a:p>
          </p:txBody>
        </p:sp>
      </p:grpSp>
      <p:grpSp>
        <p:nvGrpSpPr>
          <p:cNvPr id="27" name="L4 特殊意象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3" name="L4-金线角" descr="L4-corne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4" name="L4-尘埃" descr="L4-dus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sp>
          <p:nvSpPr>
            <p:cNvPr id="15" name="L4-引出线"/>
            <p:cNvSpPr/>
            <p:nvPr/>
          </p:nvSpPr>
          <p:spPr>
            <a:xfrm>
              <a:off x="10012680" y="2441448"/>
              <a:ext cx="164592" cy="10972"/>
            </a:xfrm>
            <a:prstGeom prst="rect">
              <a:avLst/>
            </a:prstGeom>
            <a:solidFill>
              <a:srgbClr val="E05C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L4-引出线"/>
            <p:cNvSpPr/>
            <p:nvPr/>
          </p:nvSpPr>
          <p:spPr>
            <a:xfrm>
              <a:off x="10012680" y="3374136"/>
              <a:ext cx="164592" cy="10972"/>
            </a:xfrm>
            <a:prstGeom prst="rect">
              <a:avLst/>
            </a:prstGeom>
            <a:solidFill>
              <a:srgbClr val="E05C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L4-引出线"/>
            <p:cNvSpPr/>
            <p:nvPr/>
          </p:nvSpPr>
          <p:spPr>
            <a:xfrm>
              <a:off x="10012680" y="4306824"/>
              <a:ext cx="164592" cy="10972"/>
            </a:xfrm>
            <a:prstGeom prst="rect">
              <a:avLst/>
            </a:prstGeom>
            <a:solidFill>
              <a:srgbClr val="E05C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L4-引出线"/>
            <p:cNvSpPr/>
            <p:nvPr/>
          </p:nvSpPr>
          <p:spPr>
            <a:xfrm>
              <a:off x="10012680" y="5239512"/>
              <a:ext cx="164592" cy="10972"/>
            </a:xfrm>
            <a:prstGeom prst="rect">
              <a:avLst/>
            </a:prstGeom>
            <a:solidFill>
              <a:srgbClr val="E05C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3" name="L4-已核印章" descr="L4-seal-check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12680" y="5897880"/>
              <a:ext cx="822960" cy="8229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3" name="L1 渲染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2" name="L1-渲染底图" descr="L1-ink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  <p:grpSp>
        <p:nvGrpSpPr>
          <p:cNvPr id="34" name="L2 文字层"/>
          <p:cNvGrpSpPr/>
          <p:nvPr/>
        </p:nvGrpSpPr>
        <p:grpSpPr>
          <a:xfrm>
            <a:off x="777240" y="475488"/>
            <a:ext cx="10652760" cy="6254496"/>
            <a:chOff x="777240" y="475488"/>
            <a:chExt cx="10652760" cy="6254496"/>
          </a:xfrm>
        </p:grpSpPr>
        <p:sp>
          <p:nvSpPr>
            <p:cNvPr id="5" name="L2-眉标"/>
            <p:cNvSpPr txBox="1"/>
            <p:nvPr/>
          </p:nvSpPr>
          <p:spPr>
            <a:xfrm>
              <a:off x="777240" y="475488"/>
              <a:ext cx="822960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50" b="0" spc="320">
                  <a:solidFill>
                    <a:srgbClr val="E05C44"/>
                  </a:solidFill>
                  <a:latin typeface="微软雅黑"/>
                </a:rPr>
                <a:t>交互与动画</a:t>
              </a:r>
            </a:p>
          </p:txBody>
        </p:sp>
        <p:sp>
          <p:nvSpPr>
            <p:cNvPr id="6" name="L2-主标题"/>
            <p:cNvSpPr txBox="1"/>
            <p:nvPr/>
          </p:nvSpPr>
          <p:spPr>
            <a:xfrm>
              <a:off x="777240" y="841248"/>
              <a:ext cx="10607040" cy="589935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000" b="1" spc="200">
                  <a:solidFill>
                    <a:srgbClr val="EDE6D8"/>
                  </a:solidFill>
                  <a:latin typeface="宋体"/>
                </a:rPr>
                <a:t>每一次选择，都有各自的回响</a:t>
              </a:r>
            </a:p>
          </p:txBody>
        </p:sp>
        <p:sp>
          <p:nvSpPr>
            <p:cNvPr id="7" name="L2-红色标题线"/>
            <p:cNvSpPr/>
            <p:nvPr/>
          </p:nvSpPr>
          <p:spPr>
            <a:xfrm>
              <a:off x="795528" y="1627632"/>
              <a:ext cx="2377440" cy="25603"/>
            </a:xfrm>
            <a:prstGeom prst="rect">
              <a:avLst/>
            </a:prstGeom>
            <a:solidFill>
              <a:srgbClr val="A3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2-页脚"/>
            <p:cNvSpPr txBox="1"/>
            <p:nvPr/>
          </p:nvSpPr>
          <p:spPr>
            <a:xfrm>
              <a:off x="777240" y="6492240"/>
              <a:ext cx="548640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850" b="0">
                  <a:solidFill>
                    <a:srgbClr val="A89C88"/>
                  </a:solidFill>
                  <a:latin typeface="微软雅黑"/>
                </a:rPr>
                <a:t>把名字留下来 · 四行仓库　｜　作品 460737</a:t>
              </a:r>
            </a:p>
          </p:txBody>
        </p:sp>
        <p:sp>
          <p:nvSpPr>
            <p:cNvPr id="9" name="L2-页码"/>
            <p:cNvSpPr txBox="1"/>
            <p:nvPr/>
          </p:nvSpPr>
          <p:spPr>
            <a:xfrm>
              <a:off x="10881360" y="6492240"/>
              <a:ext cx="54864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r"/>
              <a:r>
                <a:rPr sz="850" b="0">
                  <a:solidFill>
                    <a:srgbClr val="A89C88"/>
                  </a:solidFill>
                  <a:latin typeface="微软雅黑"/>
                </a:rPr>
                <a:t>08 / 19</a:t>
              </a:r>
            </a:p>
          </p:txBody>
        </p:sp>
        <p:sp>
          <p:nvSpPr>
            <p:cNvPr id="10" name="L2-标签"/>
            <p:cNvSpPr txBox="1"/>
            <p:nvPr/>
          </p:nvSpPr>
          <p:spPr>
            <a:xfrm>
              <a:off x="822960" y="2103120"/>
              <a:ext cx="1097280" cy="3657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000" b="1" spc="100">
                  <a:solidFill>
                    <a:srgbClr val="E05C44"/>
                  </a:solidFill>
                  <a:latin typeface="宋体"/>
                </a:rPr>
                <a:t>六 种</a:t>
              </a:r>
            </a:p>
          </p:txBody>
        </p:sp>
        <p:sp>
          <p:nvSpPr>
            <p:cNvPr id="11" name="L2-描述"/>
            <p:cNvSpPr txBox="1"/>
            <p:nvPr/>
          </p:nvSpPr>
          <p:spPr>
            <a:xfrm>
              <a:off x="1965960" y="2139696"/>
              <a:ext cx="4480560" cy="64008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250" b="0">
                  <a:solidFill>
                    <a:srgbClr val="D4C8B6"/>
                  </a:solidFill>
                  <a:latin typeface="微软雅黑"/>
                </a:rPr>
                <a:t>记忆载体的点击粒子：墨点 / 纸片 / 红绸 / 白闪 / 声波 / 上浮的字</a:t>
              </a:r>
            </a:p>
          </p:txBody>
        </p:sp>
        <p:sp>
          <p:nvSpPr>
            <p:cNvPr id="12" name="L2-标签"/>
            <p:cNvSpPr txBox="1"/>
            <p:nvPr/>
          </p:nvSpPr>
          <p:spPr>
            <a:xfrm>
              <a:off x="822960" y="3182111"/>
              <a:ext cx="1097280" cy="3657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000" b="1" spc="100">
                  <a:solidFill>
                    <a:srgbClr val="E05C44"/>
                  </a:solidFill>
                  <a:latin typeface="宋体"/>
                </a:rPr>
                <a:t>五 种</a:t>
              </a:r>
            </a:p>
          </p:txBody>
        </p:sp>
        <p:sp>
          <p:nvSpPr>
            <p:cNvPr id="13" name="L2-描述"/>
            <p:cNvSpPr txBox="1"/>
            <p:nvPr/>
          </p:nvSpPr>
          <p:spPr>
            <a:xfrm>
              <a:off x="1965960" y="3218687"/>
              <a:ext cx="4480560" cy="64008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250" b="0">
                  <a:solidFill>
                    <a:srgbClr val="D4C8B6"/>
                  </a:solidFill>
                  <a:latin typeface="微软雅黑"/>
                </a:rPr>
                <a:t>天气换场：墨 / 雨 / 雪 / 灰 / 烟，2.09s 全黑帧换内容</a:t>
              </a:r>
            </a:p>
          </p:txBody>
        </p:sp>
        <p:sp>
          <p:nvSpPr>
            <p:cNvPr id="14" name="L2-标签"/>
            <p:cNvSpPr txBox="1"/>
            <p:nvPr/>
          </p:nvSpPr>
          <p:spPr>
            <a:xfrm>
              <a:off x="822960" y="4261103"/>
              <a:ext cx="1097280" cy="3657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000" b="1" spc="100">
                  <a:solidFill>
                    <a:srgbClr val="E05C44"/>
                  </a:solidFill>
                  <a:latin typeface="宋体"/>
                </a:rPr>
                <a:t>九 段</a:t>
              </a:r>
            </a:p>
          </p:txBody>
        </p:sp>
        <p:sp>
          <p:nvSpPr>
            <p:cNvPr id="15" name="L2-描述"/>
            <p:cNvSpPr txBox="1"/>
            <p:nvPr/>
          </p:nvSpPr>
          <p:spPr>
            <a:xfrm>
              <a:off x="1965960" y="4297679"/>
              <a:ext cx="4480560" cy="64008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250" b="0">
                  <a:solidFill>
                    <a:srgbClr val="D4C8B6"/>
                  </a:solidFill>
                  <a:latin typeface="微软雅黑"/>
                </a:rPr>
                <a:t>六秒终极画面：可跳过、可重看，减少动效自动降级</a:t>
              </a:r>
            </a:p>
          </p:txBody>
        </p:sp>
        <p:sp>
          <p:nvSpPr>
            <p:cNvPr id="16" name="L2-结语"/>
            <p:cNvSpPr txBox="1"/>
            <p:nvPr/>
          </p:nvSpPr>
          <p:spPr>
            <a:xfrm>
              <a:off x="822960" y="5440680"/>
              <a:ext cx="5212080" cy="54864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300" b="0" spc="60">
                  <a:solidFill>
                    <a:srgbClr val="C8BCAA"/>
                  </a:solidFill>
                  <a:latin typeface="宋体"/>
                </a:rPr>
                <a:t>没有游戏引擎，也没有动画库。每一帧都是手写的。</a:t>
              </a:r>
            </a:p>
          </p:txBody>
        </p:sp>
      </p:grpSp>
      <p:grpSp>
        <p:nvGrpSpPr>
          <p:cNvPr id="35" name="L3 意象层"/>
          <p:cNvGrpSpPr/>
          <p:nvPr/>
        </p:nvGrpSpPr>
        <p:grpSpPr>
          <a:xfrm>
            <a:off x="6195060" y="2148840"/>
            <a:ext cx="5623560" cy="3328416"/>
            <a:chOff x="6195060" y="2148840"/>
            <a:chExt cx="5623560" cy="3328416"/>
          </a:xfrm>
        </p:grpSpPr>
        <p:sp>
          <p:nvSpPr>
            <p:cNvPr id="17" name="L3-截图占位框"/>
            <p:cNvSpPr/>
            <p:nvPr/>
          </p:nvSpPr>
          <p:spPr>
            <a:xfrm>
              <a:off x="6446520" y="2148840"/>
              <a:ext cx="2423160" cy="1362456"/>
            </a:xfrm>
            <a:prstGeom prst="rect">
              <a:avLst/>
            </a:prstGeom>
            <a:noFill/>
            <a:ln w="15240">
              <a:solidFill>
                <a:srgbClr val="C8A063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L3-占位提示"/>
            <p:cNvSpPr txBox="1"/>
            <p:nvPr/>
          </p:nvSpPr>
          <p:spPr>
            <a:xfrm>
              <a:off x="6195060" y="2446020"/>
              <a:ext cx="292608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100" b="0">
                  <a:solidFill>
                    <a:srgbClr val="C8A063"/>
                  </a:solidFill>
                  <a:latin typeface="微软雅黑"/>
                </a:rPr>
                <a:t>此处放真实运行截图</a:t>
              </a:r>
            </a:p>
          </p:txBody>
        </p:sp>
        <p:sp>
          <p:nvSpPr>
            <p:cNvPr id="19" name="L3-占位文件名"/>
            <p:cNvSpPr txBox="1"/>
            <p:nvPr/>
          </p:nvSpPr>
          <p:spPr>
            <a:xfrm>
              <a:off x="6195060" y="2756916"/>
              <a:ext cx="292608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300" b="0">
                  <a:solidFill>
                    <a:srgbClr val="E05C44"/>
                  </a:solidFill>
                  <a:latin typeface="微软雅黑"/>
                </a:rPr>
                <a:t>动效帧 01</a:t>
              </a:r>
            </a:p>
          </p:txBody>
        </p:sp>
        <p:sp>
          <p:nvSpPr>
            <p:cNvPr id="20" name="L3-占位尺寸"/>
            <p:cNvSpPr txBox="1"/>
            <p:nvPr/>
          </p:nvSpPr>
          <p:spPr>
            <a:xfrm>
              <a:off x="6195060" y="3049524"/>
              <a:ext cx="292608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000" b="0">
                  <a:solidFill>
                    <a:srgbClr val="A89C88"/>
                  </a:solidFill>
                  <a:latin typeface="微软雅黑"/>
                </a:rPr>
                <a:t>墨幕 cover</a:t>
              </a:r>
            </a:p>
          </p:txBody>
        </p:sp>
        <p:sp>
          <p:nvSpPr>
            <p:cNvPr id="21" name="L3-截图占位框"/>
            <p:cNvSpPr/>
            <p:nvPr/>
          </p:nvSpPr>
          <p:spPr>
            <a:xfrm>
              <a:off x="9144000" y="2148840"/>
              <a:ext cx="2423160" cy="1362456"/>
            </a:xfrm>
            <a:prstGeom prst="rect">
              <a:avLst/>
            </a:prstGeom>
            <a:noFill/>
            <a:ln w="15240">
              <a:solidFill>
                <a:srgbClr val="C8A063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L3-占位提示"/>
            <p:cNvSpPr txBox="1"/>
            <p:nvPr/>
          </p:nvSpPr>
          <p:spPr>
            <a:xfrm>
              <a:off x="8892540" y="2446020"/>
              <a:ext cx="292608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100" b="0">
                  <a:solidFill>
                    <a:srgbClr val="C8A063"/>
                  </a:solidFill>
                  <a:latin typeface="微软雅黑"/>
                </a:rPr>
                <a:t>此处放真实运行截图</a:t>
              </a:r>
            </a:p>
          </p:txBody>
        </p:sp>
        <p:sp>
          <p:nvSpPr>
            <p:cNvPr id="23" name="L3-占位文件名"/>
            <p:cNvSpPr txBox="1"/>
            <p:nvPr/>
          </p:nvSpPr>
          <p:spPr>
            <a:xfrm>
              <a:off x="8892540" y="2756916"/>
              <a:ext cx="292608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300" b="0">
                  <a:solidFill>
                    <a:srgbClr val="E05C44"/>
                  </a:solidFill>
                  <a:latin typeface="微软雅黑"/>
                </a:rPr>
                <a:t>动效帧 02</a:t>
              </a:r>
            </a:p>
          </p:txBody>
        </p:sp>
        <p:sp>
          <p:nvSpPr>
            <p:cNvPr id="24" name="L3-占位尺寸"/>
            <p:cNvSpPr txBox="1"/>
            <p:nvPr/>
          </p:nvSpPr>
          <p:spPr>
            <a:xfrm>
              <a:off x="8892540" y="3049524"/>
              <a:ext cx="292608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000" b="0">
                  <a:solidFill>
                    <a:srgbClr val="A89C88"/>
                  </a:solidFill>
                  <a:latin typeface="微软雅黑"/>
                </a:rPr>
                <a:t>墨幕 hold</a:t>
              </a:r>
            </a:p>
          </p:txBody>
        </p:sp>
        <p:sp>
          <p:nvSpPr>
            <p:cNvPr id="25" name="L3-截图占位框"/>
            <p:cNvSpPr/>
            <p:nvPr/>
          </p:nvSpPr>
          <p:spPr>
            <a:xfrm>
              <a:off x="6446520" y="4114800"/>
              <a:ext cx="2423160" cy="1362456"/>
            </a:xfrm>
            <a:prstGeom prst="rect">
              <a:avLst/>
            </a:prstGeom>
            <a:noFill/>
            <a:ln w="15240">
              <a:solidFill>
                <a:srgbClr val="C8A063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L3-占位提示"/>
            <p:cNvSpPr txBox="1"/>
            <p:nvPr/>
          </p:nvSpPr>
          <p:spPr>
            <a:xfrm>
              <a:off x="6195060" y="4411980"/>
              <a:ext cx="292608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100" b="0">
                  <a:solidFill>
                    <a:srgbClr val="C8A063"/>
                  </a:solidFill>
                  <a:latin typeface="微软雅黑"/>
                </a:rPr>
                <a:t>此处放真实运行截图</a:t>
              </a:r>
            </a:p>
          </p:txBody>
        </p:sp>
        <p:sp>
          <p:nvSpPr>
            <p:cNvPr id="27" name="L3-占位文件名"/>
            <p:cNvSpPr txBox="1"/>
            <p:nvPr/>
          </p:nvSpPr>
          <p:spPr>
            <a:xfrm>
              <a:off x="6195060" y="4722876"/>
              <a:ext cx="292608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300" b="0">
                  <a:solidFill>
                    <a:srgbClr val="E05C44"/>
                  </a:solidFill>
                  <a:latin typeface="微软雅黑"/>
                </a:rPr>
                <a:t>动效帧 03</a:t>
              </a:r>
            </a:p>
          </p:txBody>
        </p:sp>
        <p:sp>
          <p:nvSpPr>
            <p:cNvPr id="28" name="L3-占位尺寸"/>
            <p:cNvSpPr txBox="1"/>
            <p:nvPr/>
          </p:nvSpPr>
          <p:spPr>
            <a:xfrm>
              <a:off x="6195060" y="5015484"/>
              <a:ext cx="292608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000" b="0">
                  <a:solidFill>
                    <a:srgbClr val="A89C88"/>
                  </a:solidFill>
                  <a:latin typeface="微软雅黑"/>
                </a:rPr>
                <a:t>粒子 · 名册</a:t>
              </a:r>
            </a:p>
          </p:txBody>
        </p:sp>
        <p:sp>
          <p:nvSpPr>
            <p:cNvPr id="29" name="L3-截图占位框"/>
            <p:cNvSpPr/>
            <p:nvPr/>
          </p:nvSpPr>
          <p:spPr>
            <a:xfrm>
              <a:off x="9144000" y="4114800"/>
              <a:ext cx="2423160" cy="1362456"/>
            </a:xfrm>
            <a:prstGeom prst="rect">
              <a:avLst/>
            </a:prstGeom>
            <a:noFill/>
            <a:ln w="15240">
              <a:solidFill>
                <a:srgbClr val="C8A063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L3-占位提示"/>
            <p:cNvSpPr txBox="1"/>
            <p:nvPr/>
          </p:nvSpPr>
          <p:spPr>
            <a:xfrm>
              <a:off x="8892540" y="4411980"/>
              <a:ext cx="292608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100" b="0">
                  <a:solidFill>
                    <a:srgbClr val="C8A063"/>
                  </a:solidFill>
                  <a:latin typeface="微软雅黑"/>
                </a:rPr>
                <a:t>此处放真实运行截图</a:t>
              </a:r>
            </a:p>
          </p:txBody>
        </p:sp>
        <p:sp>
          <p:nvSpPr>
            <p:cNvPr id="31" name="L3-占位文件名"/>
            <p:cNvSpPr txBox="1"/>
            <p:nvPr/>
          </p:nvSpPr>
          <p:spPr>
            <a:xfrm>
              <a:off x="8892540" y="4722876"/>
              <a:ext cx="292608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300" b="0">
                  <a:solidFill>
                    <a:srgbClr val="E05C44"/>
                  </a:solidFill>
                  <a:latin typeface="微软雅黑"/>
                </a:rPr>
                <a:t>动效帧 04</a:t>
              </a:r>
            </a:p>
          </p:txBody>
        </p:sp>
        <p:sp>
          <p:nvSpPr>
            <p:cNvPr id="32" name="L3-占位尺寸"/>
            <p:cNvSpPr txBox="1"/>
            <p:nvPr/>
          </p:nvSpPr>
          <p:spPr>
            <a:xfrm>
              <a:off x="8892540" y="5015484"/>
              <a:ext cx="292608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000" b="0">
                  <a:solidFill>
                    <a:srgbClr val="A89C88"/>
                  </a:solidFill>
                  <a:latin typeface="微软雅黑"/>
                </a:rPr>
                <a:t>终极画面</a:t>
              </a:r>
            </a:p>
          </p:txBody>
        </p:sp>
      </p:grpSp>
      <p:grpSp>
        <p:nvGrpSpPr>
          <p:cNvPr id="36" name="L4 特殊意象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3" name="L4-金线角" descr="L4-corne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4" name="L4-尘埃" descr="L4-dus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4" name="L1 渲染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2" name="L1-渲染底图" descr="L1-blender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  <p:grpSp>
        <p:nvGrpSpPr>
          <p:cNvPr id="25" name="L2 文字层"/>
          <p:cNvGrpSpPr/>
          <p:nvPr/>
        </p:nvGrpSpPr>
        <p:grpSpPr>
          <a:xfrm>
            <a:off x="777240" y="475488"/>
            <a:ext cx="10652760" cy="6254496"/>
            <a:chOff x="777240" y="475488"/>
            <a:chExt cx="10652760" cy="6254496"/>
          </a:xfrm>
        </p:grpSpPr>
        <p:sp>
          <p:nvSpPr>
            <p:cNvPr id="5" name="L2-眉标"/>
            <p:cNvSpPr txBox="1"/>
            <p:nvPr/>
          </p:nvSpPr>
          <p:spPr>
            <a:xfrm>
              <a:off x="777240" y="475488"/>
              <a:ext cx="822960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50" b="0" spc="320">
                  <a:solidFill>
                    <a:srgbClr val="E05C44"/>
                  </a:solidFill>
                  <a:latin typeface="微软雅黑"/>
                </a:rPr>
                <a:t>真 3D 场景</a:t>
              </a:r>
            </a:p>
          </p:txBody>
        </p:sp>
        <p:sp>
          <p:nvSpPr>
            <p:cNvPr id="6" name="L2-主标题"/>
            <p:cNvSpPr txBox="1"/>
            <p:nvPr/>
          </p:nvSpPr>
          <p:spPr>
            <a:xfrm>
              <a:off x="777240" y="841248"/>
              <a:ext cx="10607040" cy="530941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3600" b="1" spc="200">
                  <a:solidFill>
                    <a:srgbClr val="EDE6D8"/>
                  </a:solidFill>
                  <a:latin typeface="宋体"/>
                </a:rPr>
                <a:t>五个 hero 场景，把纵深用在看得见的地方</a:t>
              </a:r>
            </a:p>
          </p:txBody>
        </p:sp>
        <p:sp>
          <p:nvSpPr>
            <p:cNvPr id="7" name="L2-红色标题线"/>
            <p:cNvSpPr/>
            <p:nvPr/>
          </p:nvSpPr>
          <p:spPr>
            <a:xfrm>
              <a:off x="795528" y="1627632"/>
              <a:ext cx="2377440" cy="25603"/>
            </a:xfrm>
            <a:prstGeom prst="rect">
              <a:avLst/>
            </a:prstGeom>
            <a:solidFill>
              <a:srgbClr val="A3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2-页脚"/>
            <p:cNvSpPr txBox="1"/>
            <p:nvPr/>
          </p:nvSpPr>
          <p:spPr>
            <a:xfrm>
              <a:off x="777240" y="6492240"/>
              <a:ext cx="548640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850" b="0">
                  <a:solidFill>
                    <a:srgbClr val="A89C88"/>
                  </a:solidFill>
                  <a:latin typeface="微软雅黑"/>
                </a:rPr>
                <a:t>把名字留下来 · 四行仓库　｜　作品 460737</a:t>
              </a:r>
            </a:p>
          </p:txBody>
        </p:sp>
        <p:sp>
          <p:nvSpPr>
            <p:cNvPr id="9" name="L2-页码"/>
            <p:cNvSpPr txBox="1"/>
            <p:nvPr/>
          </p:nvSpPr>
          <p:spPr>
            <a:xfrm>
              <a:off x="10881360" y="6492240"/>
              <a:ext cx="54864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r"/>
              <a:r>
                <a:rPr sz="850" b="0">
                  <a:solidFill>
                    <a:srgbClr val="A89C88"/>
                  </a:solidFill>
                  <a:latin typeface="微软雅黑"/>
                </a:rPr>
                <a:t>09 / 19</a:t>
              </a:r>
            </a:p>
          </p:txBody>
        </p:sp>
        <p:sp>
          <p:nvSpPr>
            <p:cNvPr id="10" name="L2-大数字"/>
            <p:cNvSpPr txBox="1"/>
            <p:nvPr/>
          </p:nvSpPr>
          <p:spPr>
            <a:xfrm>
              <a:off x="822960" y="1965960"/>
              <a:ext cx="2377440" cy="8001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200" b="1" spc="100">
                  <a:solidFill>
                    <a:srgbClr val="EDE6D8"/>
                  </a:solidFill>
                  <a:latin typeface="宋体"/>
                </a:rPr>
                <a:t>4,732</a:t>
              </a:r>
            </a:p>
          </p:txBody>
        </p:sp>
        <p:sp>
          <p:nvSpPr>
            <p:cNvPr id="11" name="L2-数字说明"/>
            <p:cNvSpPr txBox="1"/>
            <p:nvPr/>
          </p:nvSpPr>
          <p:spPr>
            <a:xfrm>
              <a:off x="822960" y="2572512"/>
              <a:ext cx="2377440" cy="310896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200">
                  <a:solidFill>
                    <a:srgbClr val="A89C88"/>
                  </a:solidFill>
                  <a:latin typeface="微软雅黑"/>
                </a:rPr>
                <a:t>三角面（仓库西墙 GLB）</a:t>
              </a:r>
            </a:p>
          </p:txBody>
        </p:sp>
        <p:sp>
          <p:nvSpPr>
            <p:cNvPr id="12" name="L2-大数字"/>
            <p:cNvSpPr txBox="1"/>
            <p:nvPr/>
          </p:nvSpPr>
          <p:spPr>
            <a:xfrm>
              <a:off x="3246120" y="1965960"/>
              <a:ext cx="2377440" cy="8001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200" b="1" spc="100">
                  <a:solidFill>
                    <a:srgbClr val="EDE6D8"/>
                  </a:solidFill>
                  <a:latin typeface="宋体"/>
                </a:rPr>
                <a:t>469.6KB</a:t>
              </a:r>
            </a:p>
          </p:txBody>
        </p:sp>
        <p:sp>
          <p:nvSpPr>
            <p:cNvPr id="13" name="L2-数字说明"/>
            <p:cNvSpPr txBox="1"/>
            <p:nvPr/>
          </p:nvSpPr>
          <p:spPr>
            <a:xfrm>
              <a:off x="3246120" y="2572512"/>
              <a:ext cx="2377440" cy="310896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200">
                  <a:solidFill>
                    <a:srgbClr val="A89C88"/>
                  </a:solidFill>
                  <a:latin typeface="微软雅黑"/>
                </a:rPr>
                <a:t>GLB 体积</a:t>
              </a:r>
            </a:p>
          </p:txBody>
        </p:sp>
        <p:sp>
          <p:nvSpPr>
            <p:cNvPr id="14" name="L2-大数字"/>
            <p:cNvSpPr txBox="1"/>
            <p:nvPr/>
          </p:nvSpPr>
          <p:spPr>
            <a:xfrm>
              <a:off x="5806440" y="1965960"/>
              <a:ext cx="2011680" cy="8001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200" b="1" spc="100">
                  <a:solidFill>
                    <a:srgbClr val="EDE6D8"/>
                  </a:solidFill>
                  <a:latin typeface="宋体"/>
                </a:rPr>
                <a:t>≤25</a:t>
              </a:r>
            </a:p>
          </p:txBody>
        </p:sp>
        <p:sp>
          <p:nvSpPr>
            <p:cNvPr id="15" name="L2-数字说明"/>
            <p:cNvSpPr txBox="1"/>
            <p:nvPr/>
          </p:nvSpPr>
          <p:spPr>
            <a:xfrm>
              <a:off x="5806440" y="2572512"/>
              <a:ext cx="2011680" cy="310896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200">
                  <a:solidFill>
                    <a:srgbClr val="A89C88"/>
                  </a:solidFill>
                  <a:latin typeface="微软雅黑"/>
                </a:rPr>
                <a:t>draw calls 预算</a:t>
              </a:r>
            </a:p>
          </p:txBody>
        </p:sp>
        <p:sp>
          <p:nvSpPr>
            <p:cNvPr id="16" name="L2-说明"/>
            <p:cNvSpPr txBox="1"/>
            <p:nvPr/>
          </p:nvSpPr>
          <p:spPr>
            <a:xfrm>
              <a:off x="822960" y="3401568"/>
              <a:ext cx="5577840" cy="109728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sz="1350" b="0">
                  <a:solidFill>
                    <a:srgbClr val="D4C8B6"/>
                  </a:solidFill>
                  <a:latin typeface="微软雅黑"/>
                </a:rPr>
                <a:t>西墙：Blender 无头建模导出；</a:t>
              </a:r>
            </a:p>
            <a:p>
              <a:pPr algn="l">
                <a:lnSpc>
                  <a:spcPct val="125000"/>
                </a:lnSpc>
              </a:pPr>
              <a:r>
                <a:rPr sz="1350" b="0">
                  <a:solidFill>
                    <a:srgbClr val="D4C8B6"/>
                  </a:solidFill>
                  <a:latin typeface="微软雅黑"/>
                </a:rPr>
                <a:t>其余四场：底楼 / 楼顶 / 桥 / 1947 厢房，程序化几何。</a:t>
              </a:r>
            </a:p>
          </p:txBody>
        </p:sp>
        <p:sp>
          <p:nvSpPr>
            <p:cNvPr id="17" name="L2-回退"/>
            <p:cNvSpPr txBox="1"/>
            <p:nvPr/>
          </p:nvSpPr>
          <p:spPr>
            <a:xfrm>
              <a:off x="822960" y="4709160"/>
              <a:ext cx="5577840" cy="9144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sz="1300" b="0">
                  <a:solidFill>
                    <a:srgbClr val="C8BCAA"/>
                  </a:solidFill>
                  <a:latin typeface="微软雅黑"/>
                </a:rPr>
                <a:t>无 WebGL、开启减少动效、窗口 &lt;700px：</a:t>
              </a:r>
            </a:p>
            <a:p>
              <a:pPr algn="l">
                <a:lnSpc>
                  <a:spcPct val="125000"/>
                </a:lnSpc>
              </a:pPr>
              <a:r>
                <a:rPr sz="1300" b="0">
                  <a:solidFill>
                    <a:srgbClr val="C8BCAA"/>
                  </a:solidFill>
                  <a:latin typeface="微软雅黑"/>
                </a:rPr>
                <a:t>自动回退 2.5D，正文永远可读。</a:t>
              </a:r>
            </a:p>
          </p:txBody>
        </p:sp>
      </p:grpSp>
      <p:grpSp>
        <p:nvGrpSpPr>
          <p:cNvPr id="26" name="L3 意象层"/>
          <p:cNvGrpSpPr/>
          <p:nvPr/>
        </p:nvGrpSpPr>
        <p:grpSpPr>
          <a:xfrm>
            <a:off x="6537960" y="1874519"/>
            <a:ext cx="4754880" cy="4590289"/>
            <a:chOff x="6537960" y="1874519"/>
            <a:chExt cx="4754880" cy="4590289"/>
          </a:xfrm>
        </p:grpSpPr>
        <p:sp>
          <p:nvSpPr>
            <p:cNvPr id="18" name="L3-截图占位框"/>
            <p:cNvSpPr/>
            <p:nvPr/>
          </p:nvSpPr>
          <p:spPr>
            <a:xfrm>
              <a:off x="6537960" y="1874519"/>
              <a:ext cx="4754880" cy="2679192"/>
            </a:xfrm>
            <a:prstGeom prst="rect">
              <a:avLst/>
            </a:prstGeom>
            <a:noFill/>
            <a:ln w="15240">
              <a:solidFill>
                <a:srgbClr val="C8A063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L3-占位提示"/>
            <p:cNvSpPr txBox="1"/>
            <p:nvPr/>
          </p:nvSpPr>
          <p:spPr>
            <a:xfrm>
              <a:off x="7452360" y="2830068"/>
              <a:ext cx="292608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100" b="0">
                  <a:solidFill>
                    <a:srgbClr val="C8A063"/>
                  </a:solidFill>
                  <a:latin typeface="微软雅黑"/>
                </a:rPr>
                <a:t>此处放真实运行截图</a:t>
              </a:r>
            </a:p>
          </p:txBody>
        </p:sp>
        <p:sp>
          <p:nvSpPr>
            <p:cNvPr id="20" name="L3-占位文件名"/>
            <p:cNvSpPr txBox="1"/>
            <p:nvPr/>
          </p:nvSpPr>
          <p:spPr>
            <a:xfrm>
              <a:off x="7452360" y="3140963"/>
              <a:ext cx="292608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300" b="0">
                  <a:solidFill>
                    <a:srgbClr val="E05C44"/>
                  </a:solidFill>
                  <a:latin typeface="微软雅黑"/>
                </a:rPr>
                <a:t>shot-04-3d.png</a:t>
              </a:r>
            </a:p>
          </p:txBody>
        </p:sp>
        <p:sp>
          <p:nvSpPr>
            <p:cNvPr id="21" name="L3-占位尺寸"/>
            <p:cNvSpPr txBox="1"/>
            <p:nvPr/>
          </p:nvSpPr>
          <p:spPr>
            <a:xfrm>
              <a:off x="7452360" y="3433572"/>
              <a:ext cx="292608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000" b="0">
                  <a:solidFill>
                    <a:srgbClr val="A89C88"/>
                  </a:solidFill>
                  <a:latin typeface="微软雅黑"/>
                </a:rPr>
                <a:t>1920 × 1080</a:t>
              </a:r>
            </a:p>
          </p:txBody>
        </p:sp>
        <p:pic>
          <p:nvPicPr>
            <p:cNvPr id="22" name="L3-GLB 线框" descr="L3-wirefram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20840" y="4498848"/>
              <a:ext cx="3063240" cy="1965960"/>
            </a:xfrm>
            <a:prstGeom prst="rect">
              <a:avLst/>
            </a:prstGeom>
          </p:spPr>
        </p:pic>
      </p:grpSp>
      <p:grpSp>
        <p:nvGrpSpPr>
          <p:cNvPr id="27" name="L4 特殊意象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3" name="L4-金线角" descr="L4-corne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4" name="L4-尘埃" descr="L4-dus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23" name="L4-编号印章" descr="L4-seal-number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29800" y="4892040"/>
              <a:ext cx="868680" cy="8686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1" name="L1 渲染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2" name="L1-渲染底图" descr="L1-wave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  <p:grpSp>
        <p:nvGrpSpPr>
          <p:cNvPr id="22" name="L2 文字层"/>
          <p:cNvGrpSpPr/>
          <p:nvPr/>
        </p:nvGrpSpPr>
        <p:grpSpPr>
          <a:xfrm>
            <a:off x="777240" y="475488"/>
            <a:ext cx="10652760" cy="6254496"/>
            <a:chOff x="777240" y="475488"/>
            <a:chExt cx="10652760" cy="6254496"/>
          </a:xfrm>
        </p:grpSpPr>
        <p:sp>
          <p:nvSpPr>
            <p:cNvPr id="5" name="L2-眉标"/>
            <p:cNvSpPr txBox="1"/>
            <p:nvPr/>
          </p:nvSpPr>
          <p:spPr>
            <a:xfrm>
              <a:off x="777240" y="475488"/>
              <a:ext cx="822960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50" b="0" spc="320">
                  <a:solidFill>
                    <a:srgbClr val="E05C44"/>
                  </a:solidFill>
                  <a:latin typeface="微软雅黑"/>
                </a:rPr>
                <a:t>声音设计</a:t>
              </a:r>
            </a:p>
          </p:txBody>
        </p:sp>
        <p:sp>
          <p:nvSpPr>
            <p:cNvPr id="6" name="L2-主标题"/>
            <p:cNvSpPr txBox="1"/>
            <p:nvPr/>
          </p:nvSpPr>
          <p:spPr>
            <a:xfrm>
              <a:off x="777240" y="841248"/>
              <a:ext cx="10607040" cy="648929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400" b="1" spc="200">
                  <a:solidFill>
                    <a:srgbClr val="EDE6D8"/>
                  </a:solidFill>
                  <a:latin typeface="宋体"/>
                </a:rPr>
                <a:t>28 条声音，默认静音</a:t>
              </a:r>
            </a:p>
          </p:txBody>
        </p:sp>
        <p:sp>
          <p:nvSpPr>
            <p:cNvPr id="7" name="L2-红色标题线"/>
            <p:cNvSpPr/>
            <p:nvPr/>
          </p:nvSpPr>
          <p:spPr>
            <a:xfrm>
              <a:off x="795528" y="1627632"/>
              <a:ext cx="2377440" cy="25603"/>
            </a:xfrm>
            <a:prstGeom prst="rect">
              <a:avLst/>
            </a:prstGeom>
            <a:solidFill>
              <a:srgbClr val="A3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2-页脚"/>
            <p:cNvSpPr txBox="1"/>
            <p:nvPr/>
          </p:nvSpPr>
          <p:spPr>
            <a:xfrm>
              <a:off x="777240" y="6492240"/>
              <a:ext cx="548640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850" b="0">
                  <a:solidFill>
                    <a:srgbClr val="A89C88"/>
                  </a:solidFill>
                  <a:latin typeface="微软雅黑"/>
                </a:rPr>
                <a:t>把名字留下来 · 四行仓库　｜　作品 460737</a:t>
              </a:r>
            </a:p>
          </p:txBody>
        </p:sp>
        <p:sp>
          <p:nvSpPr>
            <p:cNvPr id="9" name="L2-页码"/>
            <p:cNvSpPr txBox="1"/>
            <p:nvPr/>
          </p:nvSpPr>
          <p:spPr>
            <a:xfrm>
              <a:off x="10881360" y="6492240"/>
              <a:ext cx="54864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r"/>
              <a:r>
                <a:rPr sz="850" b="0">
                  <a:solidFill>
                    <a:srgbClr val="A89C88"/>
                  </a:solidFill>
                  <a:latin typeface="微软雅黑"/>
                </a:rPr>
                <a:t>10 / 19</a:t>
              </a:r>
            </a:p>
          </p:txBody>
        </p:sp>
        <p:sp>
          <p:nvSpPr>
            <p:cNvPr id="10" name="L2-大数字"/>
            <p:cNvSpPr txBox="1"/>
            <p:nvPr/>
          </p:nvSpPr>
          <p:spPr>
            <a:xfrm>
              <a:off x="822960" y="2011680"/>
              <a:ext cx="2194560" cy="8763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600" b="1" spc="100">
                  <a:solidFill>
                    <a:srgbClr val="EDE6D8"/>
                  </a:solidFill>
                  <a:latin typeface="宋体"/>
                </a:rPr>
                <a:t>28</a:t>
              </a:r>
            </a:p>
          </p:txBody>
        </p:sp>
        <p:sp>
          <p:nvSpPr>
            <p:cNvPr id="11" name="L2-数字说明"/>
            <p:cNvSpPr txBox="1"/>
            <p:nvPr/>
          </p:nvSpPr>
          <p:spPr>
            <a:xfrm>
              <a:off x="822960" y="2669032"/>
              <a:ext cx="2194560" cy="310896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200">
                  <a:solidFill>
                    <a:srgbClr val="A89C88"/>
                  </a:solidFill>
                  <a:latin typeface="微软雅黑"/>
                </a:rPr>
                <a:t>条本地生成音效</a:t>
              </a:r>
            </a:p>
          </p:txBody>
        </p:sp>
        <p:sp>
          <p:nvSpPr>
            <p:cNvPr id="12" name="L2-大数字"/>
            <p:cNvSpPr txBox="1"/>
            <p:nvPr/>
          </p:nvSpPr>
          <p:spPr>
            <a:xfrm>
              <a:off x="2880360" y="2011680"/>
              <a:ext cx="2194560" cy="8763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600" b="1" spc="100">
                  <a:solidFill>
                    <a:srgbClr val="EDE6D8"/>
                  </a:solidFill>
                  <a:latin typeface="宋体"/>
                </a:rPr>
                <a:t>4.88MB</a:t>
              </a:r>
            </a:p>
          </p:txBody>
        </p:sp>
        <p:sp>
          <p:nvSpPr>
            <p:cNvPr id="13" name="L2-数字说明"/>
            <p:cNvSpPr txBox="1"/>
            <p:nvPr/>
          </p:nvSpPr>
          <p:spPr>
            <a:xfrm>
              <a:off x="2880360" y="2669032"/>
              <a:ext cx="2194560" cy="310896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200">
                  <a:solidFill>
                    <a:srgbClr val="A89C88"/>
                  </a:solidFill>
                  <a:latin typeface="微软雅黑"/>
                </a:rPr>
                <a:t>OGG 总体积</a:t>
              </a:r>
            </a:p>
          </p:txBody>
        </p:sp>
        <p:sp>
          <p:nvSpPr>
            <p:cNvPr id="14" name="L2-大数字"/>
            <p:cNvSpPr txBox="1"/>
            <p:nvPr/>
          </p:nvSpPr>
          <p:spPr>
            <a:xfrm>
              <a:off x="5074920" y="2011680"/>
              <a:ext cx="2560320" cy="8763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600" b="1" spc="100">
                  <a:solidFill>
                    <a:srgbClr val="EDE6D8"/>
                  </a:solidFill>
                  <a:latin typeface="宋体"/>
                </a:rPr>
                <a:t>497M</a:t>
              </a:r>
            </a:p>
          </p:txBody>
        </p:sp>
        <p:sp>
          <p:nvSpPr>
            <p:cNvPr id="15" name="L2-数字说明"/>
            <p:cNvSpPr txBox="1"/>
            <p:nvPr/>
          </p:nvSpPr>
          <p:spPr>
            <a:xfrm>
              <a:off x="5074920" y="2669032"/>
              <a:ext cx="2560320" cy="310896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200">
                  <a:solidFill>
                    <a:srgbClr val="A89C88"/>
                  </a:solidFill>
                  <a:latin typeface="微软雅黑"/>
                </a:rPr>
                <a:t>Stable Audio Open Small</a:t>
              </a:r>
            </a:p>
          </p:txBody>
        </p:sp>
        <p:sp>
          <p:nvSpPr>
            <p:cNvPr id="16" name="L2-说明"/>
            <p:cNvSpPr txBox="1"/>
            <p:nvPr/>
          </p:nvSpPr>
          <p:spPr>
            <a:xfrm>
              <a:off x="822960" y="3520440"/>
              <a:ext cx="6035040" cy="109728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>
                  <a:solidFill>
                    <a:srgbClr val="D4C8B6"/>
                  </a:solidFill>
                  <a:latin typeface="微软雅黑"/>
                </a:rPr>
                <a:t>场景按天气与地点切换；结局有专属低音。</a:t>
              </a:r>
            </a:p>
            <a:p>
              <a:pPr algn="l">
                <a:lnSpc>
                  <a:spcPct val="130000"/>
                </a:lnSpc>
              </a:pPr>
              <a:r>
                <a:rPr sz="1400" b="0">
                  <a:solidFill>
                    <a:srgbClr val="D4C8B6"/>
                  </a:solidFill>
                  <a:latin typeface="微软雅黑"/>
                </a:rPr>
                <a:t>默认静音，首次手势解锁，右下角可关，状态记忆。</a:t>
              </a:r>
            </a:p>
          </p:txBody>
        </p:sp>
        <p:sp>
          <p:nvSpPr>
            <p:cNvPr id="17" name="L2-结语"/>
            <p:cNvSpPr txBox="1"/>
            <p:nvPr/>
          </p:nvSpPr>
          <p:spPr>
            <a:xfrm>
              <a:off x="822960" y="4892040"/>
              <a:ext cx="5852160" cy="7315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spc="50">
                  <a:solidFill>
                    <a:srgbClr val="C8BCAA"/>
                  </a:solidFill>
                  <a:latin typeface="宋体"/>
                </a:rPr>
                <a:t>声音不是惊吓。</a:t>
              </a:r>
            </a:p>
            <a:p>
              <a:pPr algn="l">
                <a:lnSpc>
                  <a:spcPct val="130000"/>
                </a:lnSpc>
              </a:pPr>
              <a:r>
                <a:rPr sz="1400" b="0" spc="50">
                  <a:solidFill>
                    <a:srgbClr val="C8BCAA"/>
                  </a:solidFill>
                  <a:latin typeface="宋体"/>
                </a:rPr>
                <a:t>它只是让你相信，那个夜晚真的存在。</a:t>
              </a:r>
            </a:p>
          </p:txBody>
        </p:sp>
      </p:grpSp>
      <p:grpSp>
        <p:nvGrpSpPr>
          <p:cNvPr id="23" name="L3 意象层"/>
          <p:cNvGrpSpPr/>
          <p:nvPr/>
        </p:nvGrpSpPr>
        <p:grpSpPr>
          <a:xfrm>
            <a:off x="7452360" y="2331720"/>
            <a:ext cx="3291840" cy="3291840"/>
            <a:chOff x="7452360" y="2331720"/>
            <a:chExt cx="3291840" cy="3291840"/>
          </a:xfrm>
        </p:grpSpPr>
        <p:pic>
          <p:nvPicPr>
            <p:cNvPr id="18" name="L3-录音机" descr="obj-recorder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420000">
              <a:off x="7452360" y="2331720"/>
              <a:ext cx="3291840" cy="3291840"/>
            </a:xfrm>
            <a:prstGeom prst="rect">
              <a:avLst/>
            </a:prstGeom>
          </p:spPr>
        </p:pic>
      </p:grpSp>
      <p:grpSp>
        <p:nvGrpSpPr>
          <p:cNvPr id="24" name="L4 特殊意象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3" name="L4-金线角" descr="L4-corne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4" name="L4-尘埃" descr="L4-dus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sp>
          <p:nvSpPr>
            <p:cNvPr id="19" name="L4-红线"/>
            <p:cNvSpPr/>
            <p:nvPr/>
          </p:nvSpPr>
          <p:spPr>
            <a:xfrm>
              <a:off x="822960" y="1572768"/>
              <a:ext cx="2743200" cy="18288"/>
            </a:xfrm>
            <a:prstGeom prst="rect">
              <a:avLst/>
            </a:prstGeom>
            <a:solidFill>
              <a:srgbClr val="A3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0" name="L4-静音印章" descr="L4-seal-mut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95560" y="196596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5" name="L1 渲染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2" name="L1-渲染底图" descr="L1-art-collage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  <p:grpSp>
        <p:nvGrpSpPr>
          <p:cNvPr id="26" name="L2 文字层"/>
          <p:cNvGrpSpPr/>
          <p:nvPr/>
        </p:nvGrpSpPr>
        <p:grpSpPr>
          <a:xfrm>
            <a:off x="777240" y="475488"/>
            <a:ext cx="10652760" cy="6254496"/>
            <a:chOff x="777240" y="475488"/>
            <a:chExt cx="10652760" cy="6254496"/>
          </a:xfrm>
        </p:grpSpPr>
        <p:sp>
          <p:nvSpPr>
            <p:cNvPr id="5" name="L2-眉标"/>
            <p:cNvSpPr txBox="1"/>
            <p:nvPr/>
          </p:nvSpPr>
          <p:spPr>
            <a:xfrm>
              <a:off x="777240" y="475488"/>
              <a:ext cx="822960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50" b="0" spc="320">
                  <a:solidFill>
                    <a:srgbClr val="E05C44"/>
                  </a:solidFill>
                  <a:latin typeface="微软雅黑"/>
                </a:rPr>
                <a:t>美术与质检</a:t>
              </a:r>
            </a:p>
          </p:txBody>
        </p:sp>
        <p:sp>
          <p:nvSpPr>
            <p:cNvPr id="6" name="L2-主标题"/>
            <p:cNvSpPr txBox="1"/>
            <p:nvPr/>
          </p:nvSpPr>
          <p:spPr>
            <a:xfrm>
              <a:off x="777240" y="841248"/>
              <a:ext cx="10607040" cy="619432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200" b="1" spc="200">
                  <a:solidFill>
                    <a:srgbClr val="EDE6D8"/>
                  </a:solidFill>
                  <a:latin typeface="宋体"/>
                </a:rPr>
                <a:t>496 张插画，一张一张过质检</a:t>
              </a:r>
            </a:p>
          </p:txBody>
        </p:sp>
        <p:sp>
          <p:nvSpPr>
            <p:cNvPr id="7" name="L2-红色标题线"/>
            <p:cNvSpPr/>
            <p:nvPr/>
          </p:nvSpPr>
          <p:spPr>
            <a:xfrm>
              <a:off x="795528" y="1627632"/>
              <a:ext cx="2377440" cy="25603"/>
            </a:xfrm>
            <a:prstGeom prst="rect">
              <a:avLst/>
            </a:prstGeom>
            <a:solidFill>
              <a:srgbClr val="A3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2-页脚"/>
            <p:cNvSpPr txBox="1"/>
            <p:nvPr/>
          </p:nvSpPr>
          <p:spPr>
            <a:xfrm>
              <a:off x="777240" y="6492240"/>
              <a:ext cx="548640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850" b="0">
                  <a:solidFill>
                    <a:srgbClr val="A89C88"/>
                  </a:solidFill>
                  <a:latin typeface="微软雅黑"/>
                </a:rPr>
                <a:t>把名字留下来 · 四行仓库　｜　作品 460737</a:t>
              </a:r>
            </a:p>
          </p:txBody>
        </p:sp>
        <p:sp>
          <p:nvSpPr>
            <p:cNvPr id="9" name="L2-页码"/>
            <p:cNvSpPr txBox="1"/>
            <p:nvPr/>
          </p:nvSpPr>
          <p:spPr>
            <a:xfrm>
              <a:off x="10881360" y="6492240"/>
              <a:ext cx="54864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r"/>
              <a:r>
                <a:rPr sz="850" b="0">
                  <a:solidFill>
                    <a:srgbClr val="A89C88"/>
                  </a:solidFill>
                  <a:latin typeface="微软雅黑"/>
                </a:rPr>
                <a:t>11 / 19</a:t>
              </a:r>
            </a:p>
          </p:txBody>
        </p:sp>
        <p:sp>
          <p:nvSpPr>
            <p:cNvPr id="10" name="L2-大数字"/>
            <p:cNvSpPr txBox="1"/>
            <p:nvPr/>
          </p:nvSpPr>
          <p:spPr>
            <a:xfrm>
              <a:off x="822960" y="2011680"/>
              <a:ext cx="2194560" cy="838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400" b="1" spc="100">
                  <a:solidFill>
                    <a:srgbClr val="EDE6D8"/>
                  </a:solidFill>
                  <a:latin typeface="宋体"/>
                </a:rPr>
                <a:t>500</a:t>
              </a:r>
            </a:p>
          </p:txBody>
        </p:sp>
        <p:sp>
          <p:nvSpPr>
            <p:cNvPr id="11" name="L2-数字说明"/>
            <p:cNvSpPr txBox="1"/>
            <p:nvPr/>
          </p:nvSpPr>
          <p:spPr>
            <a:xfrm>
              <a:off x="822960" y="2643632"/>
              <a:ext cx="2194560" cy="310896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200">
                  <a:solidFill>
                    <a:srgbClr val="A89C88"/>
                  </a:solidFill>
                  <a:latin typeface="微软雅黑"/>
                </a:rPr>
                <a:t>条生成总谱</a:t>
              </a:r>
            </a:p>
          </p:txBody>
        </p:sp>
        <p:sp>
          <p:nvSpPr>
            <p:cNvPr id="12" name="L2-大数字"/>
            <p:cNvSpPr txBox="1"/>
            <p:nvPr/>
          </p:nvSpPr>
          <p:spPr>
            <a:xfrm>
              <a:off x="2880360" y="2011680"/>
              <a:ext cx="2194560" cy="838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400" b="1" spc="100">
                  <a:solidFill>
                    <a:srgbClr val="EDE6D8"/>
                  </a:solidFill>
                  <a:latin typeface="宋体"/>
                </a:rPr>
                <a:t>496</a:t>
              </a:r>
            </a:p>
          </p:txBody>
        </p:sp>
        <p:sp>
          <p:nvSpPr>
            <p:cNvPr id="13" name="L2-数字说明"/>
            <p:cNvSpPr txBox="1"/>
            <p:nvPr/>
          </p:nvSpPr>
          <p:spPr>
            <a:xfrm>
              <a:off x="2880360" y="2643632"/>
              <a:ext cx="2194560" cy="310896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200">
                  <a:solidFill>
                    <a:srgbClr val="A89C88"/>
                  </a:solidFill>
                  <a:latin typeface="微软雅黑"/>
                </a:rPr>
                <a:t>张落盘</a:t>
              </a:r>
            </a:p>
          </p:txBody>
        </p:sp>
        <p:sp>
          <p:nvSpPr>
            <p:cNvPr id="14" name="L2-大数字"/>
            <p:cNvSpPr txBox="1"/>
            <p:nvPr/>
          </p:nvSpPr>
          <p:spPr>
            <a:xfrm>
              <a:off x="4937760" y="2011680"/>
              <a:ext cx="2560320" cy="838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400" b="1" spc="100">
                  <a:solidFill>
                    <a:srgbClr val="EDE6D8"/>
                  </a:solidFill>
                  <a:latin typeface="宋体"/>
                </a:rPr>
                <a:t>95.6%</a:t>
              </a:r>
            </a:p>
          </p:txBody>
        </p:sp>
        <p:sp>
          <p:nvSpPr>
            <p:cNvPr id="15" name="L2-数字说明"/>
            <p:cNvSpPr txBox="1"/>
            <p:nvPr/>
          </p:nvSpPr>
          <p:spPr>
            <a:xfrm>
              <a:off x="4937760" y="2643632"/>
              <a:ext cx="2560320" cy="310896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200">
                  <a:solidFill>
                    <a:srgbClr val="A89C88"/>
                  </a:solidFill>
                  <a:latin typeface="微软雅黑"/>
                </a:rPr>
                <a:t>入屏质检可用率</a:t>
              </a:r>
            </a:p>
          </p:txBody>
        </p:sp>
        <p:sp>
          <p:nvSpPr>
            <p:cNvPr id="16" name="L2-说明"/>
            <p:cNvSpPr txBox="1"/>
            <p:nvPr/>
          </p:nvSpPr>
          <p:spPr>
            <a:xfrm>
              <a:off x="822960" y="3520440"/>
              <a:ext cx="5669280" cy="9144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sz="1350" b="0">
                  <a:solidFill>
                    <a:srgbClr val="D4C8B6"/>
                  </a:solidFill>
                  <a:latin typeface="微软雅黑"/>
                </a:rPr>
                <a:t>入屏 158 张逐张 VLM 质检：</a:t>
              </a:r>
            </a:p>
            <a:p>
              <a:pPr algn="l">
                <a:lnSpc>
                  <a:spcPct val="125000"/>
                </a:lnSpc>
              </a:pPr>
              <a:r>
                <a:rPr sz="1350" b="0">
                  <a:solidFill>
                    <a:srgbClr val="D4C8B6"/>
                  </a:solidFill>
                  <a:latin typeface="微软雅黑"/>
                </a:rPr>
                <a:t>prompt 符合 / 时代准确 / 画面瑕疵 / 危险元素。</a:t>
              </a:r>
            </a:p>
          </p:txBody>
        </p:sp>
      </p:grpSp>
      <p:grpSp>
        <p:nvGrpSpPr>
          <p:cNvPr id="27" name="L3 意象层"/>
          <p:cNvGrpSpPr/>
          <p:nvPr/>
        </p:nvGrpSpPr>
        <p:grpSpPr>
          <a:xfrm>
            <a:off x="6400800" y="4160520"/>
            <a:ext cx="5212080" cy="1645920"/>
            <a:chOff x="6400800" y="4160520"/>
            <a:chExt cx="5212080" cy="1645920"/>
          </a:xfrm>
        </p:grpSpPr>
        <p:pic>
          <p:nvPicPr>
            <p:cNvPr id="17" name="L3-插画1" descr="scene-001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300000">
              <a:off x="6400800" y="4160520"/>
              <a:ext cx="1645920" cy="1645920"/>
            </a:xfrm>
            <a:prstGeom prst="rect">
              <a:avLst/>
            </a:prstGeom>
          </p:spPr>
        </p:pic>
        <p:pic>
          <p:nvPicPr>
            <p:cNvPr id="19" name="L3-插画2" descr="scene-007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83879" y="4160520"/>
              <a:ext cx="1645920" cy="1645920"/>
            </a:xfrm>
            <a:prstGeom prst="rect">
              <a:avLst/>
            </a:prstGeom>
          </p:spPr>
        </p:pic>
        <p:pic>
          <p:nvPicPr>
            <p:cNvPr id="21" name="L3-插画3" descr="scene-023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300000">
              <a:off x="9966960" y="4160520"/>
              <a:ext cx="1645920" cy="1645920"/>
            </a:xfrm>
            <a:prstGeom prst="rect">
              <a:avLst/>
            </a:prstGeom>
          </p:spPr>
        </p:pic>
      </p:grpSp>
      <p:grpSp>
        <p:nvGrpSpPr>
          <p:cNvPr id="28" name="L4 特殊意象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3" name="L4-金线角" descr="L4-corne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4" name="L4-尘埃" descr="L4-dus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sp>
          <p:nvSpPr>
            <p:cNvPr id="18" name="L4-画框"/>
            <p:cNvSpPr/>
            <p:nvPr/>
          </p:nvSpPr>
          <p:spPr>
            <a:xfrm>
              <a:off x="6400800" y="4160520"/>
              <a:ext cx="1645920" cy="1645920"/>
            </a:xfrm>
            <a:prstGeom prst="rect">
              <a:avLst/>
            </a:prstGeom>
            <a:noFill/>
            <a:ln w="9525">
              <a:solidFill>
                <a:srgbClr val="C8A0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L4-画框"/>
            <p:cNvSpPr/>
            <p:nvPr/>
          </p:nvSpPr>
          <p:spPr>
            <a:xfrm>
              <a:off x="8183879" y="4160520"/>
              <a:ext cx="1645920" cy="1645920"/>
            </a:xfrm>
            <a:prstGeom prst="rect">
              <a:avLst/>
            </a:prstGeom>
            <a:noFill/>
            <a:ln w="9525">
              <a:solidFill>
                <a:srgbClr val="C8A0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L4-画框"/>
            <p:cNvSpPr/>
            <p:nvPr/>
          </p:nvSpPr>
          <p:spPr>
            <a:xfrm>
              <a:off x="9966960" y="4160520"/>
              <a:ext cx="1645920" cy="1645920"/>
            </a:xfrm>
            <a:prstGeom prst="rect">
              <a:avLst/>
            </a:prstGeom>
            <a:noFill/>
            <a:ln w="9525">
              <a:solidFill>
                <a:srgbClr val="C8A0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3" name="L4-合格印章" descr="L4-seal-pass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646920" y="1874519"/>
              <a:ext cx="914400" cy="914400"/>
            </a:xfrm>
            <a:prstGeom prst="rect">
              <a:avLst/>
            </a:prstGeom>
          </p:spPr>
        </p:pic>
        <p:pic>
          <p:nvPicPr>
            <p:cNvPr id="24" name="L4-左压暗" descr="L4-left-scrim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2" name="L1 渲染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2" name="L1-渲染底图" descr="L1-office-warm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  <p:grpSp>
        <p:nvGrpSpPr>
          <p:cNvPr id="23" name="L2 文字层"/>
          <p:cNvGrpSpPr/>
          <p:nvPr/>
        </p:nvGrpSpPr>
        <p:grpSpPr>
          <a:xfrm>
            <a:off x="777240" y="475488"/>
            <a:ext cx="10652760" cy="6254496"/>
            <a:chOff x="777240" y="475488"/>
            <a:chExt cx="10652760" cy="6254496"/>
          </a:xfrm>
        </p:grpSpPr>
        <p:sp>
          <p:nvSpPr>
            <p:cNvPr id="5" name="L2-眉标"/>
            <p:cNvSpPr txBox="1"/>
            <p:nvPr/>
          </p:nvSpPr>
          <p:spPr>
            <a:xfrm>
              <a:off x="777240" y="475488"/>
              <a:ext cx="822960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50" b="0" spc="320">
                  <a:solidFill>
                    <a:srgbClr val="E05C44"/>
                  </a:solidFill>
                  <a:latin typeface="微软雅黑"/>
                </a:rPr>
                <a:t>文本与审计</a:t>
              </a:r>
            </a:p>
          </p:txBody>
        </p:sp>
        <p:sp>
          <p:nvSpPr>
            <p:cNvPr id="6" name="L2-主标题"/>
            <p:cNvSpPr txBox="1"/>
            <p:nvPr/>
          </p:nvSpPr>
          <p:spPr>
            <a:xfrm>
              <a:off x="777240" y="841248"/>
              <a:ext cx="10607040" cy="589935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000" b="1" spc="200">
                  <a:solidFill>
                    <a:srgbClr val="EDE6D8"/>
                  </a:solidFill>
                  <a:latin typeface="宋体"/>
                </a:rPr>
                <a:t>113,048 字，每一句都敢让人查</a:t>
              </a:r>
            </a:p>
          </p:txBody>
        </p:sp>
        <p:sp>
          <p:nvSpPr>
            <p:cNvPr id="7" name="L2-红色标题线"/>
            <p:cNvSpPr/>
            <p:nvPr/>
          </p:nvSpPr>
          <p:spPr>
            <a:xfrm>
              <a:off x="795528" y="1627632"/>
              <a:ext cx="2377440" cy="25603"/>
            </a:xfrm>
            <a:prstGeom prst="rect">
              <a:avLst/>
            </a:prstGeom>
            <a:solidFill>
              <a:srgbClr val="A3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2-页脚"/>
            <p:cNvSpPr txBox="1"/>
            <p:nvPr/>
          </p:nvSpPr>
          <p:spPr>
            <a:xfrm>
              <a:off x="777240" y="6492240"/>
              <a:ext cx="548640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850" b="0">
                  <a:solidFill>
                    <a:srgbClr val="A89C88"/>
                  </a:solidFill>
                  <a:latin typeface="微软雅黑"/>
                </a:rPr>
                <a:t>把名字留下来 · 四行仓库　｜　作品 460737</a:t>
              </a:r>
            </a:p>
          </p:txBody>
        </p:sp>
        <p:sp>
          <p:nvSpPr>
            <p:cNvPr id="9" name="L2-页码"/>
            <p:cNvSpPr txBox="1"/>
            <p:nvPr/>
          </p:nvSpPr>
          <p:spPr>
            <a:xfrm>
              <a:off x="10881360" y="6492240"/>
              <a:ext cx="54864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r"/>
              <a:r>
                <a:rPr sz="850" b="0">
                  <a:solidFill>
                    <a:srgbClr val="A89C88"/>
                  </a:solidFill>
                  <a:latin typeface="微软雅黑"/>
                </a:rPr>
                <a:t>12 / 19</a:t>
              </a:r>
            </a:p>
          </p:txBody>
        </p:sp>
        <p:sp>
          <p:nvSpPr>
            <p:cNvPr id="10" name="L2-大数字"/>
            <p:cNvSpPr txBox="1"/>
            <p:nvPr/>
          </p:nvSpPr>
          <p:spPr>
            <a:xfrm>
              <a:off x="822960" y="1965960"/>
              <a:ext cx="2743200" cy="8763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600" b="1" spc="100">
                  <a:solidFill>
                    <a:srgbClr val="EDE6D8"/>
                  </a:solidFill>
                  <a:latin typeface="宋体"/>
                </a:rPr>
                <a:t>113,048</a:t>
              </a:r>
            </a:p>
          </p:txBody>
        </p:sp>
        <p:sp>
          <p:nvSpPr>
            <p:cNvPr id="11" name="L2-数字说明"/>
            <p:cNvSpPr txBox="1"/>
            <p:nvPr/>
          </p:nvSpPr>
          <p:spPr>
            <a:xfrm>
              <a:off x="822960" y="2623312"/>
              <a:ext cx="2743200" cy="310896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200">
                  <a:solidFill>
                    <a:srgbClr val="A89C88"/>
                  </a:solidFill>
                  <a:latin typeface="微软雅黑"/>
                </a:rPr>
                <a:t>严格正文（只算读到的段落）</a:t>
              </a:r>
            </a:p>
          </p:txBody>
        </p:sp>
        <p:sp>
          <p:nvSpPr>
            <p:cNvPr id="12" name="L2-大数字"/>
            <p:cNvSpPr txBox="1"/>
            <p:nvPr/>
          </p:nvSpPr>
          <p:spPr>
            <a:xfrm>
              <a:off x="3977639" y="1965960"/>
              <a:ext cx="1645920" cy="8763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600" b="1" spc="100">
                  <a:solidFill>
                    <a:srgbClr val="EDE6D8"/>
                  </a:solidFill>
                  <a:latin typeface="宋体"/>
                </a:rPr>
                <a:t>140</a:t>
              </a:r>
            </a:p>
          </p:txBody>
        </p:sp>
        <p:sp>
          <p:nvSpPr>
            <p:cNvPr id="13" name="L2-数字说明"/>
            <p:cNvSpPr txBox="1"/>
            <p:nvPr/>
          </p:nvSpPr>
          <p:spPr>
            <a:xfrm>
              <a:off x="3977639" y="2623312"/>
              <a:ext cx="1645920" cy="310896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200">
                  <a:solidFill>
                    <a:srgbClr val="A89C88"/>
                  </a:solidFill>
                  <a:latin typeface="微软雅黑"/>
                </a:rPr>
                <a:t>个场景</a:t>
              </a:r>
            </a:p>
          </p:txBody>
        </p:sp>
        <p:sp>
          <p:nvSpPr>
            <p:cNvPr id="14" name="L2-大数字"/>
            <p:cNvSpPr txBox="1"/>
            <p:nvPr/>
          </p:nvSpPr>
          <p:spPr>
            <a:xfrm>
              <a:off x="5623560" y="1965960"/>
              <a:ext cx="2011680" cy="8763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600" b="1" spc="100">
                  <a:solidFill>
                    <a:srgbClr val="EDE6D8"/>
                  </a:solidFill>
                  <a:latin typeface="宋体"/>
                </a:rPr>
                <a:t>P0=0</a:t>
              </a:r>
            </a:p>
          </p:txBody>
        </p:sp>
        <p:sp>
          <p:nvSpPr>
            <p:cNvPr id="15" name="L2-数字说明"/>
            <p:cNvSpPr txBox="1"/>
            <p:nvPr/>
          </p:nvSpPr>
          <p:spPr>
            <a:xfrm>
              <a:off x="5623560" y="2623312"/>
              <a:ext cx="2011680" cy="310896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200">
                  <a:solidFill>
                    <a:srgbClr val="A89C88"/>
                  </a:solidFill>
                  <a:latin typeface="微软雅黑"/>
                </a:rPr>
                <a:t>史实审计红线</a:t>
              </a:r>
            </a:p>
          </p:txBody>
        </p:sp>
        <p:sp>
          <p:nvSpPr>
            <p:cNvPr id="16" name="L2-说明"/>
            <p:cNvSpPr txBox="1"/>
            <p:nvPr/>
          </p:nvSpPr>
          <p:spPr>
            <a:xfrm>
              <a:off x="822960" y="3474720"/>
              <a:ext cx="6035040" cy="12801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sz="1350" b="0">
                  <a:solidFill>
                    <a:srgbClr val="D4C8B6"/>
                  </a:solidFill>
                  <a:latin typeface="微软雅黑"/>
                </a:rPr>
                <a:t>双轨审计：史实 P0=0；文学 146 单元加权 4.59。</a:t>
              </a:r>
            </a:p>
            <a:p>
              <a:pPr algn="l">
                <a:lnSpc>
                  <a:spcPct val="130000"/>
                </a:lnSpc>
              </a:pPr>
              <a:r>
                <a:rPr sz="1350" b="0">
                  <a:solidFill>
                    <a:srgbClr val="D4C8B6"/>
                  </a:solidFill>
                  <a:latin typeface="微软雅黑"/>
                </a:rPr>
                <a:t>新增 3 个合成结局补审：史实 P0 4→0，文学 3.99→4.35。</a:t>
              </a:r>
            </a:p>
          </p:txBody>
        </p:sp>
        <p:sp>
          <p:nvSpPr>
            <p:cNvPr id="17" name="L2-结语"/>
            <p:cNvSpPr txBox="1"/>
            <p:nvPr/>
          </p:nvSpPr>
          <p:spPr>
            <a:xfrm>
              <a:off x="822960" y="5074920"/>
              <a:ext cx="6035040" cy="8229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600" b="0" spc="80">
                  <a:solidFill>
                    <a:srgbClr val="DACEBC"/>
                  </a:solidFill>
                  <a:latin typeface="宋体"/>
                </a:rPr>
                <a:t>写得多不难。难的是，每一句都敢让人查。</a:t>
              </a:r>
            </a:p>
          </p:txBody>
        </p:sp>
      </p:grpSp>
      <p:grpSp>
        <p:nvGrpSpPr>
          <p:cNvPr id="24" name="L3 意象层"/>
          <p:cNvGrpSpPr/>
          <p:nvPr/>
        </p:nvGrpSpPr>
        <p:grpSpPr>
          <a:xfrm>
            <a:off x="6537960" y="2468880"/>
            <a:ext cx="4754879" cy="4754879"/>
            <a:chOff x="6537960" y="2468880"/>
            <a:chExt cx="4754879" cy="4754879"/>
          </a:xfrm>
        </p:grpSpPr>
        <p:pic>
          <p:nvPicPr>
            <p:cNvPr id="18" name="L3-空白册页" descr="obj-ledger-empty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360000">
              <a:off x="7315200" y="3246120"/>
              <a:ext cx="3977639" cy="3977639"/>
            </a:xfrm>
            <a:prstGeom prst="rect">
              <a:avLst/>
            </a:prstGeom>
          </p:spPr>
        </p:pic>
        <p:pic>
          <p:nvPicPr>
            <p:cNvPr id="19" name="L3-纸条" descr="obj-not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420000">
              <a:off x="6537960" y="2468880"/>
              <a:ext cx="1554480" cy="1554480"/>
            </a:xfrm>
            <a:prstGeom prst="rect">
              <a:avLst/>
            </a:prstGeom>
          </p:spPr>
        </p:pic>
      </p:grpSp>
      <p:grpSp>
        <p:nvGrpSpPr>
          <p:cNvPr id="25" name="L4 特殊意象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3" name="L4-金线角" descr="L4-corne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4" name="L4-尘埃" descr="L4-dus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20" name="L4-已核印章" descr="L4-seal-check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104120" y="1874519"/>
              <a:ext cx="960120" cy="960120"/>
            </a:xfrm>
            <a:prstGeom prst="rect">
              <a:avLst/>
            </a:prstGeom>
          </p:spPr>
        </p:pic>
        <p:pic>
          <p:nvPicPr>
            <p:cNvPr id="21" name="L4-左压暗" descr="L4-left-scrim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8" name="L1 渲染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2" name="L1-渲染底图" descr="L1-terminal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  <p:grpSp>
        <p:nvGrpSpPr>
          <p:cNvPr id="39" name="L2 文字层"/>
          <p:cNvGrpSpPr/>
          <p:nvPr/>
        </p:nvGrpSpPr>
        <p:grpSpPr>
          <a:xfrm>
            <a:off x="777240" y="475488"/>
            <a:ext cx="10835639" cy="6254496"/>
            <a:chOff x="777240" y="475488"/>
            <a:chExt cx="10835639" cy="6254496"/>
          </a:xfrm>
        </p:grpSpPr>
        <p:sp>
          <p:nvSpPr>
            <p:cNvPr id="5" name="L2-眉标"/>
            <p:cNvSpPr txBox="1"/>
            <p:nvPr/>
          </p:nvSpPr>
          <p:spPr>
            <a:xfrm>
              <a:off x="777240" y="475488"/>
              <a:ext cx="822960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50" b="0" spc="320">
                  <a:solidFill>
                    <a:srgbClr val="E05C44"/>
                  </a:solidFill>
                  <a:latin typeface="微软雅黑"/>
                </a:rPr>
                <a:t>技术架构</a:t>
              </a:r>
            </a:p>
          </p:txBody>
        </p:sp>
        <p:sp>
          <p:nvSpPr>
            <p:cNvPr id="6" name="L2-主标题"/>
            <p:cNvSpPr txBox="1"/>
            <p:nvPr/>
          </p:nvSpPr>
          <p:spPr>
            <a:xfrm>
              <a:off x="777240" y="841248"/>
              <a:ext cx="10607040" cy="56043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3800" b="1" spc="200">
                  <a:solidFill>
                    <a:srgbClr val="EDE6D8"/>
                  </a:solidFill>
                  <a:latin typeface="宋体"/>
                </a:rPr>
                <a:t>纯静态站点：无后端、无 CDN、断网可跑</a:t>
              </a:r>
            </a:p>
          </p:txBody>
        </p:sp>
        <p:sp>
          <p:nvSpPr>
            <p:cNvPr id="7" name="L2-红色标题线"/>
            <p:cNvSpPr/>
            <p:nvPr/>
          </p:nvSpPr>
          <p:spPr>
            <a:xfrm>
              <a:off x="795528" y="1627632"/>
              <a:ext cx="2377440" cy="25603"/>
            </a:xfrm>
            <a:prstGeom prst="rect">
              <a:avLst/>
            </a:prstGeom>
            <a:solidFill>
              <a:srgbClr val="A3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2-页脚"/>
            <p:cNvSpPr txBox="1"/>
            <p:nvPr/>
          </p:nvSpPr>
          <p:spPr>
            <a:xfrm>
              <a:off x="777240" y="6492240"/>
              <a:ext cx="548640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850" b="0">
                  <a:solidFill>
                    <a:srgbClr val="A89C88"/>
                  </a:solidFill>
                  <a:latin typeface="微软雅黑"/>
                </a:rPr>
                <a:t>把名字留下来 · 四行仓库　｜　作品 460737</a:t>
              </a:r>
            </a:p>
          </p:txBody>
        </p:sp>
        <p:sp>
          <p:nvSpPr>
            <p:cNvPr id="9" name="L2-页码"/>
            <p:cNvSpPr txBox="1"/>
            <p:nvPr/>
          </p:nvSpPr>
          <p:spPr>
            <a:xfrm>
              <a:off x="10881360" y="6492240"/>
              <a:ext cx="54864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r"/>
              <a:r>
                <a:rPr sz="850" b="0">
                  <a:solidFill>
                    <a:srgbClr val="A89C88"/>
                  </a:solidFill>
                  <a:latin typeface="微软雅黑"/>
                </a:rPr>
                <a:t>13 / 19</a:t>
              </a:r>
            </a:p>
          </p:txBody>
        </p:sp>
        <p:sp>
          <p:nvSpPr>
            <p:cNvPr id="10" name="L2-副线"/>
            <p:cNvSpPr txBox="1"/>
            <p:nvPr/>
          </p:nvSpPr>
          <p:spPr>
            <a:xfrm>
              <a:off x="822960" y="1783080"/>
              <a:ext cx="7863840" cy="3657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50" b="0" spc="60">
                  <a:solidFill>
                    <a:srgbClr val="CCC0AE"/>
                  </a:solidFill>
                  <a:latin typeface="微软雅黑"/>
                </a:rPr>
                <a:t>React 19 + TypeScript 7 + Vite 8　｜　纯函数状态机 + localStorage 存档</a:t>
              </a:r>
            </a:p>
          </p:txBody>
        </p:sp>
        <p:sp>
          <p:nvSpPr>
            <p:cNvPr id="26" name="L2-说明"/>
            <p:cNvSpPr txBox="1"/>
            <p:nvPr/>
          </p:nvSpPr>
          <p:spPr>
            <a:xfrm>
              <a:off x="868680" y="4892040"/>
              <a:ext cx="10515600" cy="3657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50" b="0" spc="60">
                  <a:solidFill>
                    <a:srgbClr val="D8CCBA"/>
                  </a:solidFill>
                  <a:latin typeface="微软雅黑"/>
                </a:rPr>
                <a:t>数据 → 状态机 → 编排 → 表现：四层单向依赖，全部可静态构建；无接口请求、无数据库。</a:t>
              </a:r>
            </a:p>
          </p:txBody>
        </p:sp>
        <p:sp>
          <p:nvSpPr>
            <p:cNvPr id="27" name="L2-体积数字"/>
            <p:cNvSpPr txBox="1"/>
            <p:nvPr/>
          </p:nvSpPr>
          <p:spPr>
            <a:xfrm>
              <a:off x="868680" y="5440680"/>
              <a:ext cx="237744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200" b="1" spc="60">
                  <a:solidFill>
                    <a:srgbClr val="EDE6D8"/>
                  </a:solidFill>
                  <a:latin typeface="宋体"/>
                </a:rPr>
                <a:t>298.5 kB</a:t>
              </a:r>
            </a:p>
          </p:txBody>
        </p:sp>
        <p:sp>
          <p:nvSpPr>
            <p:cNvPr id="28" name="L2-体积说明"/>
            <p:cNvSpPr txBox="1"/>
            <p:nvPr/>
          </p:nvSpPr>
          <p:spPr>
            <a:xfrm>
              <a:off x="868680" y="5833872"/>
              <a:ext cx="237744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950" b="0" spc="200">
                  <a:solidFill>
                    <a:srgbClr val="A89C88"/>
                  </a:solidFill>
                  <a:latin typeface="微软雅黑"/>
                </a:rPr>
                <a:t>主包 gzip</a:t>
              </a:r>
            </a:p>
          </p:txBody>
        </p:sp>
        <p:sp>
          <p:nvSpPr>
            <p:cNvPr id="29" name="L2-体积数字"/>
            <p:cNvSpPr txBox="1"/>
            <p:nvPr/>
          </p:nvSpPr>
          <p:spPr>
            <a:xfrm>
              <a:off x="3657600" y="5440680"/>
              <a:ext cx="237744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200" b="1" spc="60">
                  <a:solidFill>
                    <a:srgbClr val="EDE6D8"/>
                  </a:solidFill>
                  <a:latin typeface="宋体"/>
                </a:rPr>
                <a:t>171.1 kB</a:t>
              </a:r>
            </a:p>
          </p:txBody>
        </p:sp>
        <p:sp>
          <p:nvSpPr>
            <p:cNvPr id="30" name="L2-体积说明"/>
            <p:cNvSpPr txBox="1"/>
            <p:nvPr/>
          </p:nvSpPr>
          <p:spPr>
            <a:xfrm>
              <a:off x="3657600" y="5833872"/>
              <a:ext cx="237744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950" b="0" spc="200">
                  <a:solidFill>
                    <a:srgbClr val="A89C88"/>
                  </a:solidFill>
                  <a:latin typeface="微软雅黑"/>
                </a:rPr>
                <a:t>3D 懒加载 gzip</a:t>
              </a:r>
            </a:p>
          </p:txBody>
        </p:sp>
        <p:sp>
          <p:nvSpPr>
            <p:cNvPr id="31" name="L2-体积数字"/>
            <p:cNvSpPr txBox="1"/>
            <p:nvPr/>
          </p:nvSpPr>
          <p:spPr>
            <a:xfrm>
              <a:off x="6446520" y="5440680"/>
              <a:ext cx="237744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200" b="1" spc="60">
                  <a:solidFill>
                    <a:srgbClr val="EDE6D8"/>
                  </a:solidFill>
                  <a:latin typeface="宋体"/>
                </a:rPr>
                <a:t>23.47 MB</a:t>
              </a:r>
            </a:p>
          </p:txBody>
        </p:sp>
        <p:sp>
          <p:nvSpPr>
            <p:cNvPr id="32" name="L2-体积说明"/>
            <p:cNvSpPr txBox="1"/>
            <p:nvPr/>
          </p:nvSpPr>
          <p:spPr>
            <a:xfrm>
              <a:off x="6446520" y="5833872"/>
              <a:ext cx="237744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950" b="0" spc="200">
                  <a:solidFill>
                    <a:srgbClr val="A89C88"/>
                  </a:solidFill>
                  <a:latin typeface="微软雅黑"/>
                </a:rPr>
                <a:t>dist 总体积</a:t>
              </a:r>
            </a:p>
          </p:txBody>
        </p:sp>
        <p:sp>
          <p:nvSpPr>
            <p:cNvPr id="33" name="L2-体积数字"/>
            <p:cNvSpPr txBox="1"/>
            <p:nvPr/>
          </p:nvSpPr>
          <p:spPr>
            <a:xfrm>
              <a:off x="9235439" y="5440680"/>
              <a:ext cx="237744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200" b="1" spc="60">
                  <a:solidFill>
                    <a:srgbClr val="EDE6D8"/>
                  </a:solidFill>
                  <a:latin typeface="宋体"/>
                </a:rPr>
                <a:t>0</a:t>
              </a:r>
            </a:p>
          </p:txBody>
        </p:sp>
        <p:sp>
          <p:nvSpPr>
            <p:cNvPr id="34" name="L2-体积说明"/>
            <p:cNvSpPr txBox="1"/>
            <p:nvPr/>
          </p:nvSpPr>
          <p:spPr>
            <a:xfrm>
              <a:off x="9235439" y="5833872"/>
              <a:ext cx="237744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950" b="0" spc="200">
                  <a:solidFill>
                    <a:srgbClr val="A89C88"/>
                  </a:solidFill>
                  <a:latin typeface="微软雅黑"/>
                </a:rPr>
                <a:t>后端 / CDN 依赖</a:t>
              </a:r>
            </a:p>
          </p:txBody>
        </p:sp>
      </p:grpSp>
      <p:grpSp>
        <p:nvGrpSpPr>
          <p:cNvPr id="40" name="L3 意象层"/>
          <p:cNvGrpSpPr/>
          <p:nvPr/>
        </p:nvGrpSpPr>
        <p:grpSpPr>
          <a:xfrm>
            <a:off x="868680" y="2880360"/>
            <a:ext cx="10643616" cy="1600200"/>
            <a:chOff x="868680" y="2880360"/>
            <a:chExt cx="10643616" cy="1600200"/>
          </a:xfrm>
        </p:grpSpPr>
        <p:sp>
          <p:nvSpPr>
            <p:cNvPr id="11" name="L3-架构框"/>
            <p:cNvSpPr/>
            <p:nvPr/>
          </p:nvSpPr>
          <p:spPr>
            <a:xfrm>
              <a:off x="868680" y="2880360"/>
              <a:ext cx="2331720" cy="1600200"/>
            </a:xfrm>
            <a:prstGeom prst="rect">
              <a:avLst/>
            </a:prstGeom>
            <a:solidFill>
              <a:srgbClr val="26201A"/>
            </a:solidFill>
            <a:ln w="12700">
              <a:solidFill>
                <a:srgbClr val="967A5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L3-框标题"/>
            <p:cNvSpPr txBox="1"/>
            <p:nvPr/>
          </p:nvSpPr>
          <p:spPr>
            <a:xfrm>
              <a:off x="1033271" y="3017520"/>
              <a:ext cx="201168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300" b="0" spc="150">
                  <a:solidFill>
                    <a:srgbClr val="E05C44"/>
                  </a:solidFill>
                  <a:latin typeface="宋体"/>
                </a:rPr>
                <a:t>01  数据层</a:t>
              </a:r>
            </a:p>
          </p:txBody>
        </p:sp>
        <p:sp>
          <p:nvSpPr>
            <p:cNvPr id="13" name="L3-框说明"/>
            <p:cNvSpPr txBox="1"/>
            <p:nvPr/>
          </p:nvSpPr>
          <p:spPr>
            <a:xfrm>
              <a:off x="1033271" y="3401568"/>
              <a:ext cx="2011680" cy="9144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950" b="0">
                  <a:solidFill>
                    <a:srgbClr val="E0D4C0"/>
                  </a:solidFill>
                  <a:latin typeface="微软雅黑"/>
                </a:rPr>
                <a:t>content</a:t>
              </a:r>
            </a:p>
            <a:p>
              <a:pPr algn="l">
                <a:lnSpc>
                  <a:spcPct val="120000"/>
                </a:lnSpc>
              </a:pPr>
              <a:r>
                <a:rPr sz="950" b="0">
                  <a:solidFill>
                    <a:srgbClr val="E0D4C0"/>
                  </a:solidFill>
                  <a:latin typeface="微软雅黑"/>
                </a:rPr>
                <a:t>140 场景 / 9 结局 / 76 卡</a:t>
              </a:r>
            </a:p>
          </p:txBody>
        </p:sp>
        <p:sp>
          <p:nvSpPr>
            <p:cNvPr id="15" name="L3-架构框"/>
            <p:cNvSpPr/>
            <p:nvPr/>
          </p:nvSpPr>
          <p:spPr>
            <a:xfrm>
              <a:off x="3639312" y="2880360"/>
              <a:ext cx="2331720" cy="1600200"/>
            </a:xfrm>
            <a:prstGeom prst="rect">
              <a:avLst/>
            </a:prstGeom>
            <a:solidFill>
              <a:srgbClr val="26201A"/>
            </a:solidFill>
            <a:ln w="12700">
              <a:solidFill>
                <a:srgbClr val="967A5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L3-框标题"/>
            <p:cNvSpPr txBox="1"/>
            <p:nvPr/>
          </p:nvSpPr>
          <p:spPr>
            <a:xfrm>
              <a:off x="3803904" y="3017520"/>
              <a:ext cx="201168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300" b="0" spc="150">
                  <a:solidFill>
                    <a:srgbClr val="EDE6D8"/>
                  </a:solidFill>
                  <a:latin typeface="宋体"/>
                </a:rPr>
                <a:t>02  状态机</a:t>
              </a:r>
            </a:p>
          </p:txBody>
        </p:sp>
        <p:sp>
          <p:nvSpPr>
            <p:cNvPr id="17" name="L3-框说明"/>
            <p:cNvSpPr txBox="1"/>
            <p:nvPr/>
          </p:nvSpPr>
          <p:spPr>
            <a:xfrm>
              <a:off x="3803904" y="3401568"/>
              <a:ext cx="2011680" cy="9144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950" b="0">
                  <a:solidFill>
                    <a:srgbClr val="E0D4C0"/>
                  </a:solidFill>
                  <a:latin typeface="微软雅黑"/>
                </a:rPr>
                <a:t>engine</a:t>
              </a:r>
            </a:p>
            <a:p>
              <a:pPr algn="l">
                <a:lnSpc>
                  <a:spcPct val="120000"/>
                </a:lnSpc>
              </a:pPr>
              <a:r>
                <a:rPr sz="950" b="0">
                  <a:solidFill>
                    <a:srgbClr val="E0D4C0"/>
                  </a:solidFill>
                  <a:latin typeface="微软雅黑"/>
                </a:rPr>
                <a:t>choose / advance / 账本封顶</a:t>
              </a:r>
            </a:p>
          </p:txBody>
        </p:sp>
        <p:sp>
          <p:nvSpPr>
            <p:cNvPr id="19" name="L3-架构框"/>
            <p:cNvSpPr/>
            <p:nvPr/>
          </p:nvSpPr>
          <p:spPr>
            <a:xfrm>
              <a:off x="6409944" y="2880360"/>
              <a:ext cx="2331720" cy="1600200"/>
            </a:xfrm>
            <a:prstGeom prst="rect">
              <a:avLst/>
            </a:prstGeom>
            <a:solidFill>
              <a:srgbClr val="26201A"/>
            </a:solidFill>
            <a:ln w="12700">
              <a:solidFill>
                <a:srgbClr val="967A5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L3-框标题"/>
            <p:cNvSpPr txBox="1"/>
            <p:nvPr/>
          </p:nvSpPr>
          <p:spPr>
            <a:xfrm>
              <a:off x="6574536" y="3017520"/>
              <a:ext cx="201168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300" b="0" spc="150">
                  <a:solidFill>
                    <a:srgbClr val="EDE6D8"/>
                  </a:solidFill>
                  <a:latin typeface="宋体"/>
                </a:rPr>
                <a:t>03  编排层</a:t>
              </a:r>
            </a:p>
          </p:txBody>
        </p:sp>
        <p:sp>
          <p:nvSpPr>
            <p:cNvPr id="21" name="L3-框说明"/>
            <p:cNvSpPr txBox="1"/>
            <p:nvPr/>
          </p:nvSpPr>
          <p:spPr>
            <a:xfrm>
              <a:off x="6574536" y="3401568"/>
              <a:ext cx="2011680" cy="9144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950" b="0">
                  <a:solidFill>
                    <a:srgbClr val="E0D4C0"/>
                  </a:solidFill>
                  <a:latin typeface="微软雅黑"/>
                </a:rPr>
                <a:t>App</a:t>
              </a:r>
            </a:p>
            <a:p>
              <a:pPr algn="l">
                <a:lnSpc>
                  <a:spcPct val="120000"/>
                </a:lnSpc>
              </a:pPr>
              <a:r>
                <a:rPr sz="950" b="0">
                  <a:solidFill>
                    <a:srgbClr val="E0D4C0"/>
                  </a:solidFill>
                  <a:latin typeface="微软雅黑"/>
                </a:rPr>
                <a:t>屏幕切换 / 存档 / 音频</a:t>
              </a:r>
            </a:p>
          </p:txBody>
        </p:sp>
        <p:sp>
          <p:nvSpPr>
            <p:cNvPr id="23" name="L3-架构框"/>
            <p:cNvSpPr/>
            <p:nvPr/>
          </p:nvSpPr>
          <p:spPr>
            <a:xfrm>
              <a:off x="9180576" y="2880360"/>
              <a:ext cx="2331720" cy="1600200"/>
            </a:xfrm>
            <a:prstGeom prst="rect">
              <a:avLst/>
            </a:prstGeom>
            <a:solidFill>
              <a:srgbClr val="26201A"/>
            </a:solidFill>
            <a:ln w="12700">
              <a:solidFill>
                <a:srgbClr val="967A5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L3-框标题"/>
            <p:cNvSpPr txBox="1"/>
            <p:nvPr/>
          </p:nvSpPr>
          <p:spPr>
            <a:xfrm>
              <a:off x="9345167" y="3017520"/>
              <a:ext cx="201168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300" b="0" spc="150">
                  <a:solidFill>
                    <a:srgbClr val="E05C44"/>
                  </a:solidFill>
                  <a:latin typeface="宋体"/>
                </a:rPr>
                <a:t>04  表现层</a:t>
              </a:r>
            </a:p>
          </p:txBody>
        </p:sp>
        <p:sp>
          <p:nvSpPr>
            <p:cNvPr id="25" name="L3-框说明"/>
            <p:cNvSpPr txBox="1"/>
            <p:nvPr/>
          </p:nvSpPr>
          <p:spPr>
            <a:xfrm>
              <a:off x="9345167" y="3401568"/>
              <a:ext cx="2011680" cy="9144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950" b="0">
                  <a:solidFill>
                    <a:srgbClr val="E0D4C0"/>
                  </a:solidFill>
                  <a:latin typeface="微软雅黑"/>
                </a:rPr>
                <a:t>Stage · Scene3D</a:t>
              </a:r>
            </a:p>
            <a:p>
              <a:pPr algn="l">
                <a:lnSpc>
                  <a:spcPct val="120000"/>
                </a:lnSpc>
              </a:pPr>
              <a:r>
                <a:rPr sz="950" b="0">
                  <a:solidFill>
                    <a:srgbClr val="E0D4C0"/>
                  </a:solidFill>
                  <a:latin typeface="微软雅黑"/>
                </a:rPr>
                <a:t>InkCurtain · ChoiceBurst</a:t>
              </a:r>
            </a:p>
          </p:txBody>
        </p:sp>
      </p:grpSp>
      <p:grpSp>
        <p:nvGrpSpPr>
          <p:cNvPr id="41" name="L4 特殊意象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3" name="L4-金线角" descr="L4-corne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4" name="L4-尘埃" descr="L4-dus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sp>
          <p:nvSpPr>
            <p:cNvPr id="14" name="L4-流程线"/>
            <p:cNvSpPr/>
            <p:nvPr/>
          </p:nvSpPr>
          <p:spPr>
            <a:xfrm>
              <a:off x="3246120" y="3584448"/>
              <a:ext cx="310896" cy="27432"/>
            </a:xfrm>
            <a:prstGeom prst="rect">
              <a:avLst/>
            </a:prstGeom>
            <a:solidFill>
              <a:srgbClr val="E05C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L4-流程线"/>
            <p:cNvSpPr/>
            <p:nvPr/>
          </p:nvSpPr>
          <p:spPr>
            <a:xfrm>
              <a:off x="6016752" y="3584448"/>
              <a:ext cx="310896" cy="27432"/>
            </a:xfrm>
            <a:prstGeom prst="rect">
              <a:avLst/>
            </a:prstGeom>
            <a:solidFill>
              <a:srgbClr val="E05C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L4-流程线"/>
            <p:cNvSpPr/>
            <p:nvPr/>
          </p:nvSpPr>
          <p:spPr>
            <a:xfrm>
              <a:off x="8787384" y="3584448"/>
              <a:ext cx="310896" cy="27432"/>
            </a:xfrm>
            <a:prstGeom prst="rect">
              <a:avLst/>
            </a:prstGeom>
            <a:solidFill>
              <a:srgbClr val="E05C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5" name="L4-左压暗" descr="L4-left-scrim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36" name="L4-顶压暗" descr="L4-top-scrim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37" name="L4-编号印章" descr="L4-seal-number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561320" y="1572768"/>
              <a:ext cx="822960" cy="8229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L1 渲染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2" name="L1-渲染底图" descr="L1-grid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  <p:grpSp>
        <p:nvGrpSpPr>
          <p:cNvPr id="41" name="L2 文字层"/>
          <p:cNvGrpSpPr/>
          <p:nvPr/>
        </p:nvGrpSpPr>
        <p:grpSpPr>
          <a:xfrm>
            <a:off x="777240" y="475488"/>
            <a:ext cx="11164824" cy="6254496"/>
            <a:chOff x="777240" y="475488"/>
            <a:chExt cx="11164824" cy="6254496"/>
          </a:xfrm>
        </p:grpSpPr>
        <p:sp>
          <p:nvSpPr>
            <p:cNvPr id="5" name="L2-眉标"/>
            <p:cNvSpPr txBox="1"/>
            <p:nvPr/>
          </p:nvSpPr>
          <p:spPr>
            <a:xfrm>
              <a:off x="777240" y="475488"/>
              <a:ext cx="822960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50" b="0" spc="320">
                  <a:solidFill>
                    <a:srgbClr val="E05C44"/>
                  </a:solidFill>
                  <a:latin typeface="微软雅黑"/>
                </a:rPr>
                <a:t>AI 生产管线</a:t>
              </a:r>
            </a:p>
          </p:txBody>
        </p:sp>
        <p:sp>
          <p:nvSpPr>
            <p:cNvPr id="6" name="L2-主标题"/>
            <p:cNvSpPr txBox="1"/>
            <p:nvPr/>
          </p:nvSpPr>
          <p:spPr>
            <a:xfrm>
              <a:off x="777240" y="841248"/>
              <a:ext cx="10607040" cy="648929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400" b="1" spc="200">
                  <a:solidFill>
                    <a:srgbClr val="EDE6D8"/>
                  </a:solidFill>
                  <a:latin typeface="宋体"/>
                </a:rPr>
                <a:t>AI 是产能，不是免责</a:t>
              </a:r>
            </a:p>
          </p:txBody>
        </p:sp>
        <p:sp>
          <p:nvSpPr>
            <p:cNvPr id="7" name="L2-红色标题线"/>
            <p:cNvSpPr/>
            <p:nvPr/>
          </p:nvSpPr>
          <p:spPr>
            <a:xfrm>
              <a:off x="795528" y="1627632"/>
              <a:ext cx="2377440" cy="25603"/>
            </a:xfrm>
            <a:prstGeom prst="rect">
              <a:avLst/>
            </a:prstGeom>
            <a:solidFill>
              <a:srgbClr val="A3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2-页脚"/>
            <p:cNvSpPr txBox="1"/>
            <p:nvPr/>
          </p:nvSpPr>
          <p:spPr>
            <a:xfrm>
              <a:off x="777240" y="6492240"/>
              <a:ext cx="548640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850" b="0">
                  <a:solidFill>
                    <a:srgbClr val="A89C88"/>
                  </a:solidFill>
                  <a:latin typeface="微软雅黑"/>
                </a:rPr>
                <a:t>把名字留下来 · 四行仓库　｜　作品 460737</a:t>
              </a:r>
            </a:p>
          </p:txBody>
        </p:sp>
        <p:sp>
          <p:nvSpPr>
            <p:cNvPr id="9" name="L2-页码"/>
            <p:cNvSpPr txBox="1"/>
            <p:nvPr/>
          </p:nvSpPr>
          <p:spPr>
            <a:xfrm>
              <a:off x="10881360" y="6492240"/>
              <a:ext cx="54864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r"/>
              <a:r>
                <a:rPr sz="850" b="0">
                  <a:solidFill>
                    <a:srgbClr val="A89C88"/>
                  </a:solidFill>
                  <a:latin typeface="微软雅黑"/>
                </a:rPr>
                <a:t>14 / 19</a:t>
              </a:r>
            </a:p>
          </p:txBody>
        </p:sp>
        <p:sp>
          <p:nvSpPr>
            <p:cNvPr id="10" name="L2-说明"/>
            <p:cNvSpPr txBox="1"/>
            <p:nvPr/>
          </p:nvSpPr>
          <p:spPr>
            <a:xfrm>
              <a:off x="822960" y="1783080"/>
              <a:ext cx="8229600" cy="3657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250" b="0" spc="60">
                  <a:solidFill>
                    <a:srgbClr val="D4C8B6"/>
                  </a:solidFill>
                  <a:latin typeface="微软雅黑"/>
                </a:rPr>
                <a:t>模型、seed、参数、质检记录、审计边界——全部在仓库里。</a:t>
              </a:r>
            </a:p>
          </p:txBody>
        </p:sp>
        <p:sp>
          <p:nvSpPr>
            <p:cNvPr id="12" name="L2-阶段框"/>
            <p:cNvSpPr/>
            <p:nvPr/>
          </p:nvSpPr>
          <p:spPr>
            <a:xfrm>
              <a:off x="822959" y="3063240"/>
              <a:ext cx="1700784" cy="1755648"/>
            </a:xfrm>
            <a:prstGeom prst="rect">
              <a:avLst/>
            </a:prstGeom>
            <a:solidFill>
              <a:srgbClr val="26201A"/>
            </a:solidFill>
            <a:ln w="10160">
              <a:solidFill>
                <a:srgbClr val="967A5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L2-阶段名"/>
            <p:cNvSpPr txBox="1"/>
            <p:nvPr/>
          </p:nvSpPr>
          <p:spPr>
            <a:xfrm>
              <a:off x="960120" y="3172968"/>
              <a:ext cx="1508760" cy="3657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500" b="0" spc="200">
                  <a:solidFill>
                    <a:srgbClr val="E05C44"/>
                  </a:solidFill>
                  <a:latin typeface="宋体"/>
                </a:rPr>
                <a:t>文本</a:t>
              </a:r>
            </a:p>
          </p:txBody>
        </p:sp>
        <p:sp>
          <p:nvSpPr>
            <p:cNvPr id="14" name="L2-模型名"/>
            <p:cNvSpPr txBox="1"/>
            <p:nvPr/>
          </p:nvSpPr>
          <p:spPr>
            <a:xfrm>
              <a:off x="960120" y="3630168"/>
              <a:ext cx="1508760" cy="8229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050" b="0">
                  <a:solidFill>
                    <a:srgbClr val="E4D8C4"/>
                  </a:solidFill>
                  <a:latin typeface="微软雅黑"/>
                </a:rPr>
                <a:t>分区写作</a:t>
              </a:r>
            </a:p>
            <a:p>
              <a:pPr algn="l">
                <a:lnSpc>
                  <a:spcPct val="120000"/>
                </a:lnSpc>
              </a:pPr>
              <a:r>
                <a:rPr sz="1050" b="0">
                  <a:solidFill>
                    <a:srgbClr val="E4D8C4"/>
                  </a:solidFill>
                  <a:latin typeface="微软雅黑"/>
                </a:rPr>
                <a:t>双轨审计</a:t>
              </a:r>
            </a:p>
          </p:txBody>
        </p:sp>
        <p:sp>
          <p:nvSpPr>
            <p:cNvPr id="15" name="L2-阶段号"/>
            <p:cNvSpPr txBox="1"/>
            <p:nvPr/>
          </p:nvSpPr>
          <p:spPr>
            <a:xfrm>
              <a:off x="960120" y="4434840"/>
              <a:ext cx="146304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900" b="0" spc="100">
                  <a:solidFill>
                    <a:srgbClr val="968A76"/>
                  </a:solidFill>
                  <a:latin typeface="微软雅黑"/>
                </a:rPr>
                <a:t>01</a:t>
              </a:r>
            </a:p>
          </p:txBody>
        </p:sp>
        <p:sp>
          <p:nvSpPr>
            <p:cNvPr id="16" name="L2-阶段框"/>
            <p:cNvSpPr/>
            <p:nvPr/>
          </p:nvSpPr>
          <p:spPr>
            <a:xfrm>
              <a:off x="2706624" y="3063240"/>
              <a:ext cx="1700784" cy="1755648"/>
            </a:xfrm>
            <a:prstGeom prst="rect">
              <a:avLst/>
            </a:prstGeom>
            <a:solidFill>
              <a:srgbClr val="26201A"/>
            </a:solidFill>
            <a:ln w="10160">
              <a:solidFill>
                <a:srgbClr val="967A5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L2-阶段名"/>
            <p:cNvSpPr txBox="1"/>
            <p:nvPr/>
          </p:nvSpPr>
          <p:spPr>
            <a:xfrm>
              <a:off x="2843784" y="3172968"/>
              <a:ext cx="1508760" cy="3657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500" b="0" spc="200">
                  <a:solidFill>
                    <a:srgbClr val="EDE6D8"/>
                  </a:solidFill>
                  <a:latin typeface="宋体"/>
                </a:rPr>
                <a:t>插画</a:t>
              </a:r>
            </a:p>
          </p:txBody>
        </p:sp>
        <p:sp>
          <p:nvSpPr>
            <p:cNvPr id="18" name="L2-模型名"/>
            <p:cNvSpPr txBox="1"/>
            <p:nvPr/>
          </p:nvSpPr>
          <p:spPr>
            <a:xfrm>
              <a:off x="2843784" y="3630168"/>
              <a:ext cx="1508760" cy="8229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050" b="0">
                  <a:solidFill>
                    <a:srgbClr val="E4D8C4"/>
                  </a:solidFill>
                  <a:latin typeface="微软雅黑"/>
                </a:rPr>
                <a:t>SDXL</a:t>
              </a:r>
            </a:p>
            <a:p>
              <a:pPr algn="l">
                <a:lnSpc>
                  <a:spcPct val="120000"/>
                </a:lnSpc>
              </a:pPr>
              <a:r>
                <a:rPr sz="1050" b="0">
                  <a:solidFill>
                    <a:srgbClr val="E4D8C4"/>
                  </a:solidFill>
                  <a:latin typeface="微软雅黑"/>
                </a:rPr>
                <a:t>+Lightning</a:t>
              </a:r>
            </a:p>
          </p:txBody>
        </p:sp>
        <p:sp>
          <p:nvSpPr>
            <p:cNvPr id="19" name="L2-阶段号"/>
            <p:cNvSpPr txBox="1"/>
            <p:nvPr/>
          </p:nvSpPr>
          <p:spPr>
            <a:xfrm>
              <a:off x="2843784" y="4434840"/>
              <a:ext cx="146304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900" b="0" spc="100">
                  <a:solidFill>
                    <a:srgbClr val="968A76"/>
                  </a:solidFill>
                  <a:latin typeface="微软雅黑"/>
                </a:rPr>
                <a:t>02</a:t>
              </a:r>
            </a:p>
          </p:txBody>
        </p:sp>
        <p:sp>
          <p:nvSpPr>
            <p:cNvPr id="20" name="L2-阶段框"/>
            <p:cNvSpPr/>
            <p:nvPr/>
          </p:nvSpPr>
          <p:spPr>
            <a:xfrm>
              <a:off x="4590288" y="3063240"/>
              <a:ext cx="1700784" cy="1755648"/>
            </a:xfrm>
            <a:prstGeom prst="rect">
              <a:avLst/>
            </a:prstGeom>
            <a:solidFill>
              <a:srgbClr val="26201A"/>
            </a:solidFill>
            <a:ln w="10160">
              <a:solidFill>
                <a:srgbClr val="967A5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L2-阶段名"/>
            <p:cNvSpPr txBox="1"/>
            <p:nvPr/>
          </p:nvSpPr>
          <p:spPr>
            <a:xfrm>
              <a:off x="4727448" y="3172968"/>
              <a:ext cx="1508760" cy="3657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500" b="0" spc="200">
                  <a:solidFill>
                    <a:srgbClr val="EDE6D8"/>
                  </a:solidFill>
                  <a:latin typeface="宋体"/>
                </a:rPr>
                <a:t>质检</a:t>
              </a:r>
            </a:p>
          </p:txBody>
        </p:sp>
        <p:sp>
          <p:nvSpPr>
            <p:cNvPr id="22" name="L2-模型名"/>
            <p:cNvSpPr txBox="1"/>
            <p:nvPr/>
          </p:nvSpPr>
          <p:spPr>
            <a:xfrm>
              <a:off x="4727448" y="3630168"/>
              <a:ext cx="1508760" cy="8229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050" b="0">
                  <a:solidFill>
                    <a:srgbClr val="E4D8C4"/>
                  </a:solidFill>
                  <a:latin typeface="微软雅黑"/>
                </a:rPr>
                <a:t>Qwen3-VL</a:t>
              </a:r>
            </a:p>
            <a:p>
              <a:pPr algn="l">
                <a:lnSpc>
                  <a:spcPct val="120000"/>
                </a:lnSpc>
              </a:pPr>
              <a:r>
                <a:rPr sz="1050" b="0">
                  <a:solidFill>
                    <a:srgbClr val="E4D8C4"/>
                  </a:solidFill>
                  <a:latin typeface="微软雅黑"/>
                </a:rPr>
                <a:t>四维打分</a:t>
              </a:r>
            </a:p>
          </p:txBody>
        </p:sp>
        <p:sp>
          <p:nvSpPr>
            <p:cNvPr id="23" name="L2-阶段号"/>
            <p:cNvSpPr txBox="1"/>
            <p:nvPr/>
          </p:nvSpPr>
          <p:spPr>
            <a:xfrm>
              <a:off x="4727448" y="4434840"/>
              <a:ext cx="146304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900" b="0" spc="100">
                  <a:solidFill>
                    <a:srgbClr val="968A76"/>
                  </a:solidFill>
                  <a:latin typeface="微软雅黑"/>
                </a:rPr>
                <a:t>03</a:t>
              </a:r>
            </a:p>
          </p:txBody>
        </p:sp>
        <p:sp>
          <p:nvSpPr>
            <p:cNvPr id="24" name="L2-阶段框"/>
            <p:cNvSpPr/>
            <p:nvPr/>
          </p:nvSpPr>
          <p:spPr>
            <a:xfrm>
              <a:off x="6473952" y="3063240"/>
              <a:ext cx="1700784" cy="1755648"/>
            </a:xfrm>
            <a:prstGeom prst="rect">
              <a:avLst/>
            </a:prstGeom>
            <a:solidFill>
              <a:srgbClr val="26201A"/>
            </a:solidFill>
            <a:ln w="10160">
              <a:solidFill>
                <a:srgbClr val="967A5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L2-阶段名"/>
            <p:cNvSpPr txBox="1"/>
            <p:nvPr/>
          </p:nvSpPr>
          <p:spPr>
            <a:xfrm>
              <a:off x="6611112" y="3172968"/>
              <a:ext cx="1508760" cy="3657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500" b="0" spc="200">
                  <a:solidFill>
                    <a:srgbClr val="EDE6D8"/>
                  </a:solidFill>
                  <a:latin typeface="宋体"/>
                </a:rPr>
                <a:t>音频</a:t>
              </a:r>
            </a:p>
          </p:txBody>
        </p:sp>
        <p:sp>
          <p:nvSpPr>
            <p:cNvPr id="26" name="L2-模型名"/>
            <p:cNvSpPr txBox="1"/>
            <p:nvPr/>
          </p:nvSpPr>
          <p:spPr>
            <a:xfrm>
              <a:off x="6611112" y="3630168"/>
              <a:ext cx="1508760" cy="8229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050" b="0">
                  <a:solidFill>
                    <a:srgbClr val="E4D8C4"/>
                  </a:solidFill>
                  <a:latin typeface="微软雅黑"/>
                </a:rPr>
                <a:t>Stable Audio</a:t>
              </a:r>
            </a:p>
            <a:p>
              <a:pPr algn="l">
                <a:lnSpc>
                  <a:spcPct val="120000"/>
                </a:lnSpc>
              </a:pPr>
              <a:r>
                <a:rPr sz="1050" b="0">
                  <a:solidFill>
                    <a:srgbClr val="E4D8C4"/>
                  </a:solidFill>
                  <a:latin typeface="微软雅黑"/>
                </a:rPr>
                <a:t>Open Small</a:t>
              </a:r>
            </a:p>
          </p:txBody>
        </p:sp>
        <p:sp>
          <p:nvSpPr>
            <p:cNvPr id="27" name="L2-阶段号"/>
            <p:cNvSpPr txBox="1"/>
            <p:nvPr/>
          </p:nvSpPr>
          <p:spPr>
            <a:xfrm>
              <a:off x="6611112" y="4434840"/>
              <a:ext cx="146304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900" b="0" spc="100">
                  <a:solidFill>
                    <a:srgbClr val="968A76"/>
                  </a:solidFill>
                  <a:latin typeface="微软雅黑"/>
                </a:rPr>
                <a:t>04</a:t>
              </a:r>
            </a:p>
          </p:txBody>
        </p:sp>
        <p:sp>
          <p:nvSpPr>
            <p:cNvPr id="28" name="L2-阶段框"/>
            <p:cNvSpPr/>
            <p:nvPr/>
          </p:nvSpPr>
          <p:spPr>
            <a:xfrm>
              <a:off x="8357615" y="3063240"/>
              <a:ext cx="1700784" cy="1755648"/>
            </a:xfrm>
            <a:prstGeom prst="rect">
              <a:avLst/>
            </a:prstGeom>
            <a:solidFill>
              <a:srgbClr val="26201A"/>
            </a:solidFill>
            <a:ln w="10160">
              <a:solidFill>
                <a:srgbClr val="967A5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L2-阶段名"/>
            <p:cNvSpPr txBox="1"/>
            <p:nvPr/>
          </p:nvSpPr>
          <p:spPr>
            <a:xfrm>
              <a:off x="8494776" y="3172968"/>
              <a:ext cx="1508760" cy="3657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500" b="0" spc="200">
                  <a:solidFill>
                    <a:srgbClr val="EDE6D8"/>
                  </a:solidFill>
                  <a:latin typeface="宋体"/>
                </a:rPr>
                <a:t>3D</a:t>
              </a:r>
            </a:p>
          </p:txBody>
        </p:sp>
        <p:sp>
          <p:nvSpPr>
            <p:cNvPr id="30" name="L2-模型名"/>
            <p:cNvSpPr txBox="1"/>
            <p:nvPr/>
          </p:nvSpPr>
          <p:spPr>
            <a:xfrm>
              <a:off x="8494776" y="3630168"/>
              <a:ext cx="1508760" cy="8229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050" b="0">
                  <a:solidFill>
                    <a:srgbClr val="E4D8C4"/>
                  </a:solidFill>
                  <a:latin typeface="微软雅黑"/>
                </a:rPr>
                <a:t>Blender</a:t>
              </a:r>
            </a:p>
            <a:p>
              <a:pPr algn="l">
                <a:lnSpc>
                  <a:spcPct val="120000"/>
                </a:lnSpc>
              </a:pPr>
              <a:r>
                <a:rPr sz="1050" b="0">
                  <a:solidFill>
                    <a:srgbClr val="E4D8C4"/>
                  </a:solidFill>
                  <a:latin typeface="微软雅黑"/>
                </a:rPr>
                <a:t>无头 bpy</a:t>
              </a:r>
            </a:p>
          </p:txBody>
        </p:sp>
        <p:sp>
          <p:nvSpPr>
            <p:cNvPr id="31" name="L2-阶段号"/>
            <p:cNvSpPr txBox="1"/>
            <p:nvPr/>
          </p:nvSpPr>
          <p:spPr>
            <a:xfrm>
              <a:off x="8494776" y="4434840"/>
              <a:ext cx="146304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900" b="0" spc="100">
                  <a:solidFill>
                    <a:srgbClr val="968A76"/>
                  </a:solidFill>
                  <a:latin typeface="微软雅黑"/>
                </a:rPr>
                <a:t>05</a:t>
              </a:r>
            </a:p>
          </p:txBody>
        </p:sp>
        <p:sp>
          <p:nvSpPr>
            <p:cNvPr id="32" name="L2-阶段框"/>
            <p:cNvSpPr/>
            <p:nvPr/>
          </p:nvSpPr>
          <p:spPr>
            <a:xfrm>
              <a:off x="10241280" y="3063240"/>
              <a:ext cx="1700784" cy="1755648"/>
            </a:xfrm>
            <a:prstGeom prst="rect">
              <a:avLst/>
            </a:prstGeom>
            <a:solidFill>
              <a:srgbClr val="26201A"/>
            </a:solidFill>
            <a:ln w="10160">
              <a:solidFill>
                <a:srgbClr val="967A5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L2-阶段名"/>
            <p:cNvSpPr txBox="1"/>
            <p:nvPr/>
          </p:nvSpPr>
          <p:spPr>
            <a:xfrm>
              <a:off x="10378440" y="3172968"/>
              <a:ext cx="1508760" cy="3657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500" b="0" spc="200">
                  <a:solidFill>
                    <a:srgbClr val="E05C44"/>
                  </a:solidFill>
                  <a:latin typeface="宋体"/>
                </a:rPr>
                <a:t>审计</a:t>
              </a:r>
            </a:p>
          </p:txBody>
        </p:sp>
        <p:sp>
          <p:nvSpPr>
            <p:cNvPr id="34" name="L2-模型名"/>
            <p:cNvSpPr txBox="1"/>
            <p:nvPr/>
          </p:nvSpPr>
          <p:spPr>
            <a:xfrm>
              <a:off x="10378440" y="3630168"/>
              <a:ext cx="1508760" cy="8229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050" b="0">
                  <a:solidFill>
                    <a:srgbClr val="E4D8C4"/>
                  </a:solidFill>
                  <a:latin typeface="微软雅黑"/>
                </a:rPr>
                <a:t>史实 / 文学</a:t>
              </a:r>
            </a:p>
            <a:p>
              <a:pPr algn="l">
                <a:lnSpc>
                  <a:spcPct val="120000"/>
                </a:lnSpc>
              </a:pPr>
              <a:r>
                <a:rPr sz="1050" b="0">
                  <a:solidFill>
                    <a:srgbClr val="E4D8C4"/>
                  </a:solidFill>
                  <a:latin typeface="微软雅黑"/>
                </a:rPr>
                <a:t>补审</a:t>
              </a:r>
            </a:p>
          </p:txBody>
        </p:sp>
        <p:sp>
          <p:nvSpPr>
            <p:cNvPr id="35" name="L2-阶段号"/>
            <p:cNvSpPr txBox="1"/>
            <p:nvPr/>
          </p:nvSpPr>
          <p:spPr>
            <a:xfrm>
              <a:off x="10378440" y="4434840"/>
              <a:ext cx="146304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900" b="0" spc="100">
                  <a:solidFill>
                    <a:srgbClr val="968A76"/>
                  </a:solidFill>
                  <a:latin typeface="微软雅黑"/>
                </a:rPr>
                <a:t>06</a:t>
              </a:r>
            </a:p>
          </p:txBody>
        </p:sp>
        <p:sp>
          <p:nvSpPr>
            <p:cNvPr id="36" name="L2-产出"/>
            <p:cNvSpPr txBox="1"/>
            <p:nvPr/>
          </p:nvSpPr>
          <p:spPr>
            <a:xfrm>
              <a:off x="822960" y="5440680"/>
              <a:ext cx="10789920" cy="7315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100" b="0">
                  <a:solidFill>
                    <a:srgbClr val="C6BAA8"/>
                  </a:solidFill>
                  <a:latin typeface="微软雅黑"/>
                </a:rPr>
                <a:t>插画 500 条总谱 → 496 张落盘，入屏 158 张逐张 VLM 质检（95.6% 可用）；音效 28 条；3D 资产 4,732 三角面。</a:t>
              </a:r>
            </a:p>
          </p:txBody>
        </p:sp>
      </p:grpSp>
      <p:grpSp>
        <p:nvGrpSpPr>
          <p:cNvPr id="42" name="L3 意象层"/>
          <p:cNvGrpSpPr/>
          <p:nvPr/>
        </p:nvGrpSpPr>
        <p:grpSpPr>
          <a:xfrm>
            <a:off x="868680" y="4873752"/>
            <a:ext cx="9601200" cy="14630"/>
            <a:chOff x="868680" y="4873752"/>
            <a:chExt cx="9601200" cy="14630"/>
          </a:xfrm>
        </p:grpSpPr>
        <p:sp>
          <p:nvSpPr>
            <p:cNvPr id="11" name="L3-管线"/>
            <p:cNvSpPr/>
            <p:nvPr/>
          </p:nvSpPr>
          <p:spPr>
            <a:xfrm>
              <a:off x="868680" y="4873752"/>
              <a:ext cx="9601200" cy="14630"/>
            </a:xfrm>
            <a:prstGeom prst="rect">
              <a:avLst/>
            </a:prstGeom>
            <a:solidFill>
              <a:srgbClr val="C8A0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" name="L4 特殊意象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3" name="L4-金线角" descr="L4-corne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4" name="L4-尘埃" descr="L4-dus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37" name="L4-左压暗" descr="L4-left-scrim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38" name="L4-顶压暗" descr="L4-top-scrim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39" name="L4-已核印章" descr="L4-seal-check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469880" y="1572768"/>
              <a:ext cx="822960" cy="8229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6" name="L1 渲染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2" name="L1-渲染底图" descr="L1-terminal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  <p:grpSp>
        <p:nvGrpSpPr>
          <p:cNvPr id="27" name="L2 文字层"/>
          <p:cNvGrpSpPr/>
          <p:nvPr/>
        </p:nvGrpSpPr>
        <p:grpSpPr>
          <a:xfrm>
            <a:off x="777240" y="475488"/>
            <a:ext cx="10652760" cy="6254496"/>
            <a:chOff x="777240" y="475488"/>
            <a:chExt cx="10652760" cy="6254496"/>
          </a:xfrm>
        </p:grpSpPr>
        <p:sp>
          <p:nvSpPr>
            <p:cNvPr id="5" name="L2-眉标"/>
            <p:cNvSpPr txBox="1"/>
            <p:nvPr/>
          </p:nvSpPr>
          <p:spPr>
            <a:xfrm>
              <a:off x="777240" y="475488"/>
              <a:ext cx="822960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50" b="0" spc="320">
                  <a:solidFill>
                    <a:srgbClr val="E05C44"/>
                  </a:solidFill>
                  <a:latin typeface="微软雅黑"/>
                </a:rPr>
                <a:t>工程质量</a:t>
              </a:r>
            </a:p>
          </p:txBody>
        </p:sp>
        <p:sp>
          <p:nvSpPr>
            <p:cNvPr id="6" name="L2-主标题"/>
            <p:cNvSpPr txBox="1"/>
            <p:nvPr/>
          </p:nvSpPr>
          <p:spPr>
            <a:xfrm>
              <a:off x="777240" y="841248"/>
              <a:ext cx="10607040" cy="678425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600" b="1" spc="200">
                  <a:solidFill>
                    <a:srgbClr val="EDE6D8"/>
                  </a:solidFill>
                  <a:latin typeface="宋体"/>
                </a:rPr>
                <a:t>能玩、能跑、能查</a:t>
              </a:r>
            </a:p>
          </p:txBody>
        </p:sp>
        <p:sp>
          <p:nvSpPr>
            <p:cNvPr id="7" name="L2-红色标题线"/>
            <p:cNvSpPr/>
            <p:nvPr/>
          </p:nvSpPr>
          <p:spPr>
            <a:xfrm>
              <a:off x="795528" y="1627632"/>
              <a:ext cx="2377440" cy="25603"/>
            </a:xfrm>
            <a:prstGeom prst="rect">
              <a:avLst/>
            </a:prstGeom>
            <a:solidFill>
              <a:srgbClr val="A3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2-页脚"/>
            <p:cNvSpPr txBox="1"/>
            <p:nvPr/>
          </p:nvSpPr>
          <p:spPr>
            <a:xfrm>
              <a:off x="777240" y="6492240"/>
              <a:ext cx="548640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850" b="0">
                  <a:solidFill>
                    <a:srgbClr val="A89C88"/>
                  </a:solidFill>
                  <a:latin typeface="微软雅黑"/>
                </a:rPr>
                <a:t>把名字留下来 · 四行仓库　｜　作品 460737</a:t>
              </a:r>
            </a:p>
          </p:txBody>
        </p:sp>
        <p:sp>
          <p:nvSpPr>
            <p:cNvPr id="9" name="L2-页码"/>
            <p:cNvSpPr txBox="1"/>
            <p:nvPr/>
          </p:nvSpPr>
          <p:spPr>
            <a:xfrm>
              <a:off x="10881360" y="6492240"/>
              <a:ext cx="54864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r"/>
              <a:r>
                <a:rPr sz="850" b="0">
                  <a:solidFill>
                    <a:srgbClr val="A89C88"/>
                  </a:solidFill>
                  <a:latin typeface="微软雅黑"/>
                </a:rPr>
                <a:t>15 / 19</a:t>
              </a:r>
            </a:p>
          </p:txBody>
        </p:sp>
        <p:sp>
          <p:nvSpPr>
            <p:cNvPr id="10" name="L2-结果数字"/>
            <p:cNvSpPr txBox="1"/>
            <p:nvPr/>
          </p:nvSpPr>
          <p:spPr>
            <a:xfrm>
              <a:off x="822960" y="2103120"/>
              <a:ext cx="2011680" cy="56692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000" b="1" spc="50">
                  <a:solidFill>
                    <a:srgbClr val="EDE6D8"/>
                  </a:solidFill>
                  <a:latin typeface="宋体"/>
                </a:rPr>
                <a:t>9/9</a:t>
              </a:r>
            </a:p>
          </p:txBody>
        </p:sp>
        <p:sp>
          <p:nvSpPr>
            <p:cNvPr id="11" name="L2-结果说明"/>
            <p:cNvSpPr txBox="1"/>
            <p:nvPr/>
          </p:nvSpPr>
          <p:spPr>
            <a:xfrm>
              <a:off x="822960" y="2724912"/>
              <a:ext cx="201168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200">
                  <a:solidFill>
                    <a:srgbClr val="A89C88"/>
                  </a:solidFill>
                  <a:latin typeface="微软雅黑"/>
                </a:rPr>
                <a:t>结局可达</a:t>
              </a:r>
            </a:p>
          </p:txBody>
        </p:sp>
        <p:sp>
          <p:nvSpPr>
            <p:cNvPr id="12" name="L2-结果数字"/>
            <p:cNvSpPr txBox="1"/>
            <p:nvPr/>
          </p:nvSpPr>
          <p:spPr>
            <a:xfrm>
              <a:off x="3063240" y="2103120"/>
              <a:ext cx="2011680" cy="56692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000" b="1" spc="50">
                  <a:solidFill>
                    <a:srgbClr val="EDE6D8"/>
                  </a:solidFill>
                  <a:latin typeface="宋体"/>
                </a:rPr>
                <a:t>11/11</a:t>
              </a:r>
            </a:p>
          </p:txBody>
        </p:sp>
        <p:sp>
          <p:nvSpPr>
            <p:cNvPr id="13" name="L2-结果说明"/>
            <p:cNvSpPr txBox="1"/>
            <p:nvPr/>
          </p:nvSpPr>
          <p:spPr>
            <a:xfrm>
              <a:off x="3063240" y="2724912"/>
              <a:ext cx="201168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200">
                  <a:solidFill>
                    <a:srgbClr val="A89C88"/>
                  </a:solidFill>
                  <a:latin typeface="微软雅黑"/>
                </a:rPr>
                <a:t>终审断言</a:t>
              </a:r>
            </a:p>
          </p:txBody>
        </p:sp>
        <p:sp>
          <p:nvSpPr>
            <p:cNvPr id="14" name="L2-结果数字"/>
            <p:cNvSpPr txBox="1"/>
            <p:nvPr/>
          </p:nvSpPr>
          <p:spPr>
            <a:xfrm>
              <a:off x="5303520" y="2103120"/>
              <a:ext cx="2011680" cy="56692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000" b="1" spc="50">
                  <a:solidFill>
                    <a:srgbClr val="EDE6D8"/>
                  </a:solidFill>
                  <a:latin typeface="宋体"/>
                </a:rPr>
                <a:t>115</a:t>
              </a:r>
            </a:p>
          </p:txBody>
        </p:sp>
        <p:sp>
          <p:nvSpPr>
            <p:cNvPr id="15" name="L2-结果说明"/>
            <p:cNvSpPr txBox="1"/>
            <p:nvPr/>
          </p:nvSpPr>
          <p:spPr>
            <a:xfrm>
              <a:off x="5303520" y="2724912"/>
              <a:ext cx="201168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200">
                  <a:solidFill>
                    <a:srgbClr val="A89C88"/>
                  </a:solidFill>
                  <a:latin typeface="微软雅黑"/>
                </a:rPr>
                <a:t>场景 0 错误</a:t>
              </a:r>
            </a:p>
          </p:txBody>
        </p:sp>
        <p:sp>
          <p:nvSpPr>
            <p:cNvPr id="16" name="L2-结果数字"/>
            <p:cNvSpPr txBox="1"/>
            <p:nvPr/>
          </p:nvSpPr>
          <p:spPr>
            <a:xfrm>
              <a:off x="7543800" y="2103120"/>
              <a:ext cx="2011680" cy="56692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000" b="1" spc="50">
                  <a:solidFill>
                    <a:srgbClr val="EDE6D8"/>
                  </a:solidFill>
                  <a:latin typeface="宋体"/>
                </a:rPr>
                <a:t>0</a:t>
              </a:r>
            </a:p>
          </p:txBody>
        </p:sp>
        <p:sp>
          <p:nvSpPr>
            <p:cNvPr id="17" name="L2-结果说明"/>
            <p:cNvSpPr txBox="1"/>
            <p:nvPr/>
          </p:nvSpPr>
          <p:spPr>
            <a:xfrm>
              <a:off x="7543800" y="2724912"/>
              <a:ext cx="201168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200">
                  <a:solidFill>
                    <a:srgbClr val="A89C88"/>
                  </a:solidFill>
                  <a:latin typeface="微软雅黑"/>
                </a:rPr>
                <a:t>部署失败请求</a:t>
              </a:r>
            </a:p>
          </p:txBody>
        </p:sp>
        <p:sp>
          <p:nvSpPr>
            <p:cNvPr id="18" name="L2-说明"/>
            <p:cNvSpPr txBox="1"/>
            <p:nvPr/>
          </p:nvSpPr>
          <p:spPr>
            <a:xfrm>
              <a:off x="822960" y="3611880"/>
              <a:ext cx="6766560" cy="9144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sz="1300" b="0">
                  <a:solidFill>
                    <a:srgbClr val="D4C8B6"/>
                  </a:solidFill>
                  <a:latin typeface="微软雅黑"/>
                </a:rPr>
                <a:t>子目录部署 / 减少动效 / 390px 移动端 / 对比度 WCAG AA</a:t>
              </a:r>
            </a:p>
            <a:p>
              <a:pPr algn="l">
                <a:lnSpc>
                  <a:spcPct val="130000"/>
                </a:lnSpc>
              </a:pPr>
              <a:r>
                <a:rPr sz="1300" b="0">
                  <a:solidFill>
                    <a:srgbClr val="D4C8B6"/>
                  </a:solidFill>
                  <a:latin typeface="微软雅黑"/>
                </a:rPr>
                <a:t>全部实测通过；断网、坏存档、localStorage 禁用仍可玩。</a:t>
              </a:r>
            </a:p>
          </p:txBody>
        </p:sp>
        <p:sp>
          <p:nvSpPr>
            <p:cNvPr id="19" name="L2-结语"/>
            <p:cNvSpPr txBox="1"/>
            <p:nvPr/>
          </p:nvSpPr>
          <p:spPr>
            <a:xfrm>
              <a:off x="822960" y="5029200"/>
              <a:ext cx="6400800" cy="7315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sz="1500" b="0" spc="50">
                  <a:solidFill>
                    <a:srgbClr val="DACEBC"/>
                  </a:solidFill>
                  <a:latin typeface="宋体"/>
                </a:rPr>
                <a:t>不是「在我电脑上能跑」。</a:t>
              </a:r>
            </a:p>
            <a:p>
              <a:pPr algn="l">
                <a:lnSpc>
                  <a:spcPct val="125000"/>
                </a:lnSpc>
              </a:pPr>
              <a:r>
                <a:rPr sz="1500" b="0" spc="50">
                  <a:solidFill>
                    <a:srgbClr val="DACEBC"/>
                  </a:solidFill>
                  <a:latin typeface="宋体"/>
                </a:rPr>
                <a:t>是「在评委的电脑上也能跑」。</a:t>
              </a:r>
            </a:p>
          </p:txBody>
        </p:sp>
      </p:grpSp>
      <p:grpSp>
        <p:nvGrpSpPr>
          <p:cNvPr id="28" name="L3 意象层"/>
          <p:cNvGrpSpPr/>
          <p:nvPr/>
        </p:nvGrpSpPr>
        <p:grpSpPr>
          <a:xfrm>
            <a:off x="8343900" y="1417320"/>
            <a:ext cx="2926080" cy="4718304"/>
            <a:chOff x="8343900" y="1417320"/>
            <a:chExt cx="2926080" cy="4718304"/>
          </a:xfrm>
        </p:grpSpPr>
        <p:sp>
          <p:nvSpPr>
            <p:cNvPr id="20" name="L3-截图占位框"/>
            <p:cNvSpPr/>
            <p:nvPr/>
          </p:nvSpPr>
          <p:spPr>
            <a:xfrm>
              <a:off x="8732520" y="1417320"/>
              <a:ext cx="2148840" cy="4718304"/>
            </a:xfrm>
            <a:prstGeom prst="rect">
              <a:avLst/>
            </a:prstGeom>
            <a:noFill/>
            <a:ln w="15240">
              <a:solidFill>
                <a:srgbClr val="C8A063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L3-占位提示"/>
            <p:cNvSpPr txBox="1"/>
            <p:nvPr/>
          </p:nvSpPr>
          <p:spPr>
            <a:xfrm>
              <a:off x="8343900" y="3392424"/>
              <a:ext cx="292608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100" b="0">
                  <a:solidFill>
                    <a:srgbClr val="C8A063"/>
                  </a:solidFill>
                  <a:latin typeface="微软雅黑"/>
                </a:rPr>
                <a:t>此处放真实运行截图</a:t>
              </a:r>
            </a:p>
          </p:txBody>
        </p:sp>
        <p:sp>
          <p:nvSpPr>
            <p:cNvPr id="22" name="L3-占位文件名"/>
            <p:cNvSpPr txBox="1"/>
            <p:nvPr/>
          </p:nvSpPr>
          <p:spPr>
            <a:xfrm>
              <a:off x="8343900" y="3703320"/>
              <a:ext cx="292608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300" b="0">
                  <a:solidFill>
                    <a:srgbClr val="E05C44"/>
                  </a:solidFill>
                  <a:latin typeface="微软雅黑"/>
                </a:rPr>
                <a:t>shot-10-mobile.png</a:t>
              </a:r>
            </a:p>
          </p:txBody>
        </p:sp>
        <p:sp>
          <p:nvSpPr>
            <p:cNvPr id="23" name="L3-占位尺寸"/>
            <p:cNvSpPr txBox="1"/>
            <p:nvPr/>
          </p:nvSpPr>
          <p:spPr>
            <a:xfrm>
              <a:off x="8343900" y="3995928"/>
              <a:ext cx="292608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000" b="0">
                  <a:solidFill>
                    <a:srgbClr val="A89C88"/>
                  </a:solidFill>
                  <a:latin typeface="微软雅黑"/>
                </a:rPr>
                <a:t>390 × 844</a:t>
              </a:r>
            </a:p>
          </p:txBody>
        </p:sp>
      </p:grpSp>
      <p:grpSp>
        <p:nvGrpSpPr>
          <p:cNvPr id="29" name="L4 特殊意象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3" name="L4-金线角" descr="L4-corne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4" name="L4-尘埃" descr="L4-dus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24" name="L4-通过印章" descr="L4-seal-pass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64240" y="5394960"/>
              <a:ext cx="822960" cy="822960"/>
            </a:xfrm>
            <a:prstGeom prst="rect">
              <a:avLst/>
            </a:prstGeom>
          </p:spPr>
        </p:pic>
        <p:pic>
          <p:nvPicPr>
            <p:cNvPr id="25" name="L4-顶压暗" descr="L4-top-scrim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0" name="L1 渲染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2" name="L1-渲染底图" descr="L1-wallhole-night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  <p:grpSp>
        <p:nvGrpSpPr>
          <p:cNvPr id="31" name="L2 文字层"/>
          <p:cNvGrpSpPr/>
          <p:nvPr/>
        </p:nvGrpSpPr>
        <p:grpSpPr>
          <a:xfrm>
            <a:off x="777240" y="475488"/>
            <a:ext cx="10652760" cy="6254496"/>
            <a:chOff x="777240" y="475488"/>
            <a:chExt cx="10652760" cy="6254496"/>
          </a:xfrm>
        </p:grpSpPr>
        <p:sp>
          <p:nvSpPr>
            <p:cNvPr id="5" name="L2-眉标"/>
            <p:cNvSpPr txBox="1"/>
            <p:nvPr/>
          </p:nvSpPr>
          <p:spPr>
            <a:xfrm>
              <a:off x="777240" y="475488"/>
              <a:ext cx="822960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50" b="0" spc="320">
                  <a:solidFill>
                    <a:srgbClr val="E05C44"/>
                  </a:solidFill>
                  <a:latin typeface="微软雅黑"/>
                </a:rPr>
                <a:t>创新与差异</a:t>
              </a:r>
            </a:p>
          </p:txBody>
        </p:sp>
        <p:sp>
          <p:nvSpPr>
            <p:cNvPr id="6" name="L2-主标题"/>
            <p:cNvSpPr txBox="1"/>
            <p:nvPr/>
          </p:nvSpPr>
          <p:spPr>
            <a:xfrm>
              <a:off x="777240" y="841248"/>
              <a:ext cx="10607040" cy="648929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400" b="1" spc="200">
                  <a:solidFill>
                    <a:srgbClr val="EDE6D8"/>
                  </a:solidFill>
                  <a:latin typeface="宋体"/>
                </a:rPr>
                <a:t>四件别人不容易抄的事</a:t>
              </a:r>
            </a:p>
          </p:txBody>
        </p:sp>
        <p:sp>
          <p:nvSpPr>
            <p:cNvPr id="7" name="L2-红色标题线"/>
            <p:cNvSpPr/>
            <p:nvPr/>
          </p:nvSpPr>
          <p:spPr>
            <a:xfrm>
              <a:off x="795528" y="1627632"/>
              <a:ext cx="2377440" cy="25603"/>
            </a:xfrm>
            <a:prstGeom prst="rect">
              <a:avLst/>
            </a:prstGeom>
            <a:solidFill>
              <a:srgbClr val="A3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2-页脚"/>
            <p:cNvSpPr txBox="1"/>
            <p:nvPr/>
          </p:nvSpPr>
          <p:spPr>
            <a:xfrm>
              <a:off x="777240" y="6492240"/>
              <a:ext cx="548640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850" b="0">
                  <a:solidFill>
                    <a:srgbClr val="A89C88"/>
                  </a:solidFill>
                  <a:latin typeface="微软雅黑"/>
                </a:rPr>
                <a:t>把名字留下来 · 四行仓库　｜　作品 460737</a:t>
              </a:r>
            </a:p>
          </p:txBody>
        </p:sp>
        <p:sp>
          <p:nvSpPr>
            <p:cNvPr id="9" name="L2-页码"/>
            <p:cNvSpPr txBox="1"/>
            <p:nvPr/>
          </p:nvSpPr>
          <p:spPr>
            <a:xfrm>
              <a:off x="10881360" y="6492240"/>
              <a:ext cx="54864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r"/>
              <a:r>
                <a:rPr sz="850" b="0">
                  <a:solidFill>
                    <a:srgbClr val="A89C88"/>
                  </a:solidFill>
                  <a:latin typeface="微软雅黑"/>
                </a:rPr>
                <a:t>16 / 19</a:t>
              </a:r>
            </a:p>
          </p:txBody>
        </p:sp>
        <p:sp>
          <p:nvSpPr>
            <p:cNvPr id="10" name="L2-序号"/>
            <p:cNvSpPr txBox="1"/>
            <p:nvPr/>
          </p:nvSpPr>
          <p:spPr>
            <a:xfrm>
              <a:off x="822960" y="2103120"/>
              <a:ext cx="82296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000" b="1" spc="100">
                  <a:solidFill>
                    <a:srgbClr val="E05C44"/>
                  </a:solidFill>
                  <a:latin typeface="宋体"/>
                </a:rPr>
                <a:t>01</a:t>
              </a:r>
            </a:p>
          </p:txBody>
        </p:sp>
        <p:sp>
          <p:nvSpPr>
            <p:cNvPr id="11" name="L2-标题"/>
            <p:cNvSpPr txBox="1"/>
            <p:nvPr/>
          </p:nvSpPr>
          <p:spPr>
            <a:xfrm>
              <a:off x="1600200" y="2066543"/>
              <a:ext cx="4754880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000" b="0" spc="150">
                  <a:solidFill>
                    <a:srgbClr val="EDE6D8"/>
                  </a:solidFill>
                  <a:latin typeface="宋体"/>
                </a:rPr>
                <a:t>史实可核到原句</a:t>
              </a:r>
            </a:p>
          </p:txBody>
        </p:sp>
        <p:sp>
          <p:nvSpPr>
            <p:cNvPr id="12" name="L2-说明"/>
            <p:cNvSpPr txBox="1"/>
            <p:nvPr/>
          </p:nvSpPr>
          <p:spPr>
            <a:xfrm>
              <a:off x="1600200" y="2505456"/>
              <a:ext cx="5120640" cy="3657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050" b="0">
                  <a:solidFill>
                    <a:srgbClr val="C4B8A6"/>
                  </a:solidFill>
                  <a:latin typeface="微软雅黑"/>
                </a:rPr>
                <a:t>76 张史料卡可点开：原句 + 作者 + 出处 + 定位</a:t>
              </a:r>
            </a:p>
          </p:txBody>
        </p:sp>
        <p:sp>
          <p:nvSpPr>
            <p:cNvPr id="14" name="L2-序号"/>
            <p:cNvSpPr txBox="1"/>
            <p:nvPr/>
          </p:nvSpPr>
          <p:spPr>
            <a:xfrm>
              <a:off x="822960" y="3182111"/>
              <a:ext cx="82296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000" b="1" spc="100">
                  <a:solidFill>
                    <a:srgbClr val="E05C44"/>
                  </a:solidFill>
                  <a:latin typeface="宋体"/>
                </a:rPr>
                <a:t>02</a:t>
              </a:r>
            </a:p>
          </p:txBody>
        </p:sp>
        <p:sp>
          <p:nvSpPr>
            <p:cNvPr id="15" name="L2-标题"/>
            <p:cNvSpPr txBox="1"/>
            <p:nvPr/>
          </p:nvSpPr>
          <p:spPr>
            <a:xfrm>
              <a:off x="1600200" y="3145535"/>
              <a:ext cx="4754880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000" b="0" spc="150">
                  <a:solidFill>
                    <a:srgbClr val="EDE6D8"/>
                  </a:solidFill>
                  <a:latin typeface="宋体"/>
                </a:rPr>
                <a:t>结局按「留下什么」</a:t>
              </a:r>
            </a:p>
          </p:txBody>
        </p:sp>
        <p:sp>
          <p:nvSpPr>
            <p:cNvPr id="16" name="L2-说明"/>
            <p:cNvSpPr txBox="1"/>
            <p:nvPr/>
          </p:nvSpPr>
          <p:spPr>
            <a:xfrm>
              <a:off x="1600200" y="3584447"/>
              <a:ext cx="5120640" cy="3657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050" b="0">
                  <a:solidFill>
                    <a:srgbClr val="C4B8A6"/>
                  </a:solidFill>
                  <a:latin typeface="微软雅黑"/>
                </a:rPr>
                <a:t>不按杀敌与胜负排名，只回答哪一种记忆被留下</a:t>
              </a:r>
            </a:p>
          </p:txBody>
        </p:sp>
        <p:sp>
          <p:nvSpPr>
            <p:cNvPr id="18" name="L2-序号"/>
            <p:cNvSpPr txBox="1"/>
            <p:nvPr/>
          </p:nvSpPr>
          <p:spPr>
            <a:xfrm>
              <a:off x="822960" y="4261103"/>
              <a:ext cx="82296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000" b="1" spc="100">
                  <a:solidFill>
                    <a:srgbClr val="E05C44"/>
                  </a:solidFill>
                  <a:latin typeface="宋体"/>
                </a:rPr>
                <a:t>03</a:t>
              </a:r>
            </a:p>
          </p:txBody>
        </p:sp>
        <p:sp>
          <p:nvSpPr>
            <p:cNvPr id="19" name="L2-标题"/>
            <p:cNvSpPr txBox="1"/>
            <p:nvPr/>
          </p:nvSpPr>
          <p:spPr>
            <a:xfrm>
              <a:off x="1600200" y="4224527"/>
              <a:ext cx="4754880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000" b="0" spc="150">
                  <a:solidFill>
                    <a:srgbClr val="EDE6D8"/>
                  </a:solidFill>
                  <a:latin typeface="宋体"/>
                </a:rPr>
                <a:t>全离线、任意静态目录</a:t>
              </a:r>
            </a:p>
          </p:txBody>
        </p:sp>
        <p:sp>
          <p:nvSpPr>
            <p:cNvPr id="20" name="L2-说明"/>
            <p:cNvSpPr txBox="1"/>
            <p:nvPr/>
          </p:nvSpPr>
          <p:spPr>
            <a:xfrm>
              <a:off x="1600200" y="4663440"/>
              <a:ext cx="5120640" cy="3657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050" b="0">
                  <a:solidFill>
                    <a:srgbClr val="C4B8A6"/>
                  </a:solidFill>
                  <a:latin typeface="微软雅黑"/>
                </a:rPr>
                <a:t>无后端、无 CDN、无外部字体，子目录部署可跑</a:t>
              </a:r>
            </a:p>
          </p:txBody>
        </p:sp>
        <p:sp>
          <p:nvSpPr>
            <p:cNvPr id="22" name="L2-序号"/>
            <p:cNvSpPr txBox="1"/>
            <p:nvPr/>
          </p:nvSpPr>
          <p:spPr>
            <a:xfrm>
              <a:off x="822960" y="5340095"/>
              <a:ext cx="82296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000" b="1" spc="100">
                  <a:solidFill>
                    <a:srgbClr val="E05C44"/>
                  </a:solidFill>
                  <a:latin typeface="宋体"/>
                </a:rPr>
                <a:t>04</a:t>
              </a:r>
            </a:p>
          </p:txBody>
        </p:sp>
        <p:sp>
          <p:nvSpPr>
            <p:cNvPr id="23" name="L2-标题"/>
            <p:cNvSpPr txBox="1"/>
            <p:nvPr/>
          </p:nvSpPr>
          <p:spPr>
            <a:xfrm>
              <a:off x="1600200" y="5303519"/>
              <a:ext cx="4754880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000" b="0" spc="150">
                  <a:solidFill>
                    <a:srgbClr val="EDE6D8"/>
                  </a:solidFill>
                  <a:latin typeface="宋体"/>
                </a:rPr>
                <a:t>AI 使用全透明</a:t>
              </a:r>
            </a:p>
          </p:txBody>
        </p:sp>
        <p:sp>
          <p:nvSpPr>
            <p:cNvPr id="24" name="L2-说明"/>
            <p:cNvSpPr txBox="1"/>
            <p:nvPr/>
          </p:nvSpPr>
          <p:spPr>
            <a:xfrm>
              <a:off x="1600200" y="5742431"/>
              <a:ext cx="5120640" cy="3657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050" b="0">
                  <a:solidFill>
                    <a:srgbClr val="C4B8A6"/>
                  </a:solidFill>
                  <a:latin typeface="微软雅黑"/>
                </a:rPr>
                <a:t>模型、seed、参数、质检、审计边界全部可查</a:t>
              </a:r>
            </a:p>
          </p:txBody>
        </p:sp>
        <p:sp>
          <p:nvSpPr>
            <p:cNvPr id="27" name="L2-结语"/>
            <p:cNvSpPr txBox="1"/>
            <p:nvPr/>
          </p:nvSpPr>
          <p:spPr>
            <a:xfrm>
              <a:off x="7589520" y="3291840"/>
              <a:ext cx="3840480" cy="64008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sz="1400" b="0" spc="50">
                  <a:solidFill>
                    <a:srgbClr val="D6CAB8"/>
                  </a:solidFill>
                  <a:latin typeface="宋体"/>
                </a:rPr>
                <a:t>我们拼的不是体量。</a:t>
              </a:r>
            </a:p>
            <a:p>
              <a:pPr algn="l">
                <a:lnSpc>
                  <a:spcPct val="125000"/>
                </a:lnSpc>
              </a:pPr>
              <a:r>
                <a:rPr sz="1400" b="0" spc="50">
                  <a:solidFill>
                    <a:srgbClr val="D6CAB8"/>
                  </a:solidFill>
                  <a:latin typeface="宋体"/>
                </a:rPr>
                <a:t>是「经得起追问」。</a:t>
              </a:r>
            </a:p>
          </p:txBody>
        </p:sp>
      </p:grpSp>
      <p:grpSp>
        <p:nvGrpSpPr>
          <p:cNvPr id="32" name="L3 意象层"/>
          <p:cNvGrpSpPr/>
          <p:nvPr/>
        </p:nvGrpSpPr>
        <p:grpSpPr>
          <a:xfrm>
            <a:off x="7818120" y="3520440"/>
            <a:ext cx="2743200" cy="2743200"/>
            <a:chOff x="7818120" y="3520440"/>
            <a:chExt cx="2743200" cy="2743200"/>
          </a:xfrm>
        </p:grpSpPr>
        <p:pic>
          <p:nvPicPr>
            <p:cNvPr id="26" name="L3-合上的名册" descr="obj-ledger-clos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240000">
              <a:off x="7818120" y="3520440"/>
              <a:ext cx="2743200" cy="2743200"/>
            </a:xfrm>
            <a:prstGeom prst="rect">
              <a:avLst/>
            </a:prstGeom>
          </p:spPr>
        </p:pic>
      </p:grpSp>
      <p:grpSp>
        <p:nvGrpSpPr>
          <p:cNvPr id="33" name="L4 特殊意象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3" name="L4-金线角" descr="L4-corne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4" name="L4-尘埃" descr="L4-dus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sp>
          <p:nvSpPr>
            <p:cNvPr id="13" name="L4-分隔线"/>
            <p:cNvSpPr/>
            <p:nvPr/>
          </p:nvSpPr>
          <p:spPr>
            <a:xfrm>
              <a:off x="822960" y="3017520"/>
              <a:ext cx="5943600" cy="7315"/>
            </a:xfrm>
            <a:prstGeom prst="rect">
              <a:avLst/>
            </a:prstGeom>
            <a:solidFill>
              <a:srgbClr val="564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L4-分隔线"/>
            <p:cNvSpPr/>
            <p:nvPr/>
          </p:nvSpPr>
          <p:spPr>
            <a:xfrm>
              <a:off x="822960" y="4096511"/>
              <a:ext cx="5943600" cy="7315"/>
            </a:xfrm>
            <a:prstGeom prst="rect">
              <a:avLst/>
            </a:prstGeom>
            <a:solidFill>
              <a:srgbClr val="564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L4-分隔线"/>
            <p:cNvSpPr/>
            <p:nvPr/>
          </p:nvSpPr>
          <p:spPr>
            <a:xfrm>
              <a:off x="822960" y="5175503"/>
              <a:ext cx="5943600" cy="7315"/>
            </a:xfrm>
            <a:prstGeom prst="rect">
              <a:avLst/>
            </a:prstGeom>
            <a:solidFill>
              <a:srgbClr val="564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L4-分隔线"/>
            <p:cNvSpPr/>
            <p:nvPr/>
          </p:nvSpPr>
          <p:spPr>
            <a:xfrm>
              <a:off x="822960" y="6254495"/>
              <a:ext cx="5943600" cy="7315"/>
            </a:xfrm>
            <a:prstGeom prst="rect">
              <a:avLst/>
            </a:prstGeom>
            <a:solidFill>
              <a:srgbClr val="564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8" name="L4-已核印章" descr="L4-seal-check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012680" y="1965960"/>
              <a:ext cx="868680" cy="868680"/>
            </a:xfrm>
            <a:prstGeom prst="rect">
              <a:avLst/>
            </a:prstGeom>
          </p:spPr>
        </p:pic>
        <p:pic>
          <p:nvPicPr>
            <p:cNvPr id="29" name="L4-左压暗" descr="L4-left-scrim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2" name="L1 渲染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2" name="L1-渲染底图" descr="L1-wallhole-night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  <p:grpSp>
        <p:nvGrpSpPr>
          <p:cNvPr id="23" name="L2 文字层"/>
          <p:cNvGrpSpPr/>
          <p:nvPr/>
        </p:nvGrpSpPr>
        <p:grpSpPr>
          <a:xfrm>
            <a:off x="777240" y="475488"/>
            <a:ext cx="10744200" cy="6254496"/>
            <a:chOff x="777240" y="475488"/>
            <a:chExt cx="10744200" cy="6254496"/>
          </a:xfrm>
        </p:grpSpPr>
        <p:sp>
          <p:nvSpPr>
            <p:cNvPr id="5" name="L2-眉标"/>
            <p:cNvSpPr txBox="1"/>
            <p:nvPr/>
          </p:nvSpPr>
          <p:spPr>
            <a:xfrm>
              <a:off x="777240" y="475488"/>
              <a:ext cx="822960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50" b="0" spc="320">
                  <a:solidFill>
                    <a:srgbClr val="E05C44"/>
                  </a:solidFill>
                  <a:latin typeface="微软雅黑"/>
                </a:rPr>
                <a:t>边界与下一步</a:t>
              </a:r>
            </a:p>
          </p:txBody>
        </p:sp>
        <p:sp>
          <p:nvSpPr>
            <p:cNvPr id="6" name="L2-主标题"/>
            <p:cNvSpPr txBox="1"/>
            <p:nvPr/>
          </p:nvSpPr>
          <p:spPr>
            <a:xfrm>
              <a:off x="777240" y="841248"/>
              <a:ext cx="10607040" cy="648929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400" b="1" spc="200">
                  <a:solidFill>
                    <a:srgbClr val="EDE6D8"/>
                  </a:solidFill>
                  <a:latin typeface="宋体"/>
                </a:rPr>
                <a:t>我们知道它还不完美</a:t>
              </a:r>
            </a:p>
          </p:txBody>
        </p:sp>
        <p:sp>
          <p:nvSpPr>
            <p:cNvPr id="7" name="L2-红色标题线"/>
            <p:cNvSpPr/>
            <p:nvPr/>
          </p:nvSpPr>
          <p:spPr>
            <a:xfrm>
              <a:off x="795528" y="1627632"/>
              <a:ext cx="2377440" cy="25603"/>
            </a:xfrm>
            <a:prstGeom prst="rect">
              <a:avLst/>
            </a:prstGeom>
            <a:solidFill>
              <a:srgbClr val="A3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2-页脚"/>
            <p:cNvSpPr txBox="1"/>
            <p:nvPr/>
          </p:nvSpPr>
          <p:spPr>
            <a:xfrm>
              <a:off x="777240" y="6492240"/>
              <a:ext cx="548640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850" b="0">
                  <a:solidFill>
                    <a:srgbClr val="A89C88"/>
                  </a:solidFill>
                  <a:latin typeface="微软雅黑"/>
                </a:rPr>
                <a:t>把名字留下来 · 四行仓库　｜　作品 460737</a:t>
              </a:r>
            </a:p>
          </p:txBody>
        </p:sp>
        <p:sp>
          <p:nvSpPr>
            <p:cNvPr id="9" name="L2-页码"/>
            <p:cNvSpPr txBox="1"/>
            <p:nvPr/>
          </p:nvSpPr>
          <p:spPr>
            <a:xfrm>
              <a:off x="10881360" y="6492240"/>
              <a:ext cx="54864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r"/>
              <a:r>
                <a:rPr sz="850" b="0">
                  <a:solidFill>
                    <a:srgbClr val="A89C88"/>
                  </a:solidFill>
                  <a:latin typeface="微软雅黑"/>
                </a:rPr>
                <a:t>17 / 19</a:t>
              </a:r>
            </a:p>
          </p:txBody>
        </p:sp>
        <p:sp>
          <p:nvSpPr>
            <p:cNvPr id="11" name="L2-条目"/>
            <p:cNvSpPr txBox="1"/>
            <p:nvPr/>
          </p:nvSpPr>
          <p:spPr>
            <a:xfrm>
              <a:off x="1143000" y="2286000"/>
              <a:ext cx="6583680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450" b="0" spc="100">
                  <a:solidFill>
                    <a:srgbClr val="D6CAB8"/>
                  </a:solidFill>
                  <a:latin typeface="微软雅黑"/>
                </a:rPr>
                <a:t>3 个合成结局为后补：已补独立审计（P0=0 / 4.35）</a:t>
              </a:r>
            </a:p>
          </p:txBody>
        </p:sp>
        <p:sp>
          <p:nvSpPr>
            <p:cNvPr id="13" name="L2-条目"/>
            <p:cNvSpPr txBox="1"/>
            <p:nvPr/>
          </p:nvSpPr>
          <p:spPr>
            <a:xfrm>
              <a:off x="1143000" y="3127248"/>
              <a:ext cx="6583680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450" b="0" spc="100">
                  <a:solidFill>
                    <a:srgbClr val="D6CAB8"/>
                  </a:solidFill>
                  <a:latin typeface="微软雅黑"/>
                </a:rPr>
                <a:t>4 个场景无插画：走渐变回退，不硬凑</a:t>
              </a:r>
            </a:p>
          </p:txBody>
        </p:sp>
        <p:sp>
          <p:nvSpPr>
            <p:cNvPr id="15" name="L2-条目"/>
            <p:cNvSpPr txBox="1"/>
            <p:nvPr/>
          </p:nvSpPr>
          <p:spPr>
            <a:xfrm>
              <a:off x="1143000" y="3968496"/>
              <a:ext cx="6583680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450" b="0" spc="100">
                  <a:solidFill>
                    <a:srgbClr val="D6CAB8"/>
                  </a:solidFill>
                  <a:latin typeface="微软雅黑"/>
                </a:rPr>
                <a:t>评审视频待录；文献检索结果待回填</a:t>
              </a:r>
            </a:p>
          </p:txBody>
        </p:sp>
        <p:sp>
          <p:nvSpPr>
            <p:cNvPr id="17" name="L2-条目"/>
            <p:cNvSpPr txBox="1"/>
            <p:nvPr/>
          </p:nvSpPr>
          <p:spPr>
            <a:xfrm>
              <a:off x="1143000" y="4809744"/>
              <a:ext cx="6583680" cy="38404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450" b="0" spc="100">
                  <a:solidFill>
                    <a:srgbClr val="D6CAB8"/>
                  </a:solidFill>
                  <a:latin typeface="微软雅黑"/>
                </a:rPr>
                <a:t>全库不出现学校 / 姓名 / 指导教师</a:t>
              </a:r>
            </a:p>
          </p:txBody>
        </p:sp>
        <p:sp>
          <p:nvSpPr>
            <p:cNvPr id="18" name="L2-结语"/>
            <p:cNvSpPr txBox="1"/>
            <p:nvPr/>
          </p:nvSpPr>
          <p:spPr>
            <a:xfrm>
              <a:off x="822960" y="5623560"/>
              <a:ext cx="6766560" cy="64008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400" b="0" spc="50">
                  <a:solidFill>
                    <a:srgbClr val="C8BCAA"/>
                  </a:solidFill>
                  <a:latin typeface="宋体"/>
                </a:rPr>
                <a:t>把没做到的地方写出来，和把做到的写出来，一样重要。</a:t>
              </a:r>
            </a:p>
          </p:txBody>
        </p:sp>
        <p:sp>
          <p:nvSpPr>
            <p:cNvPr id="20" name="L2-留白"/>
            <p:cNvSpPr txBox="1"/>
            <p:nvPr/>
          </p:nvSpPr>
          <p:spPr>
            <a:xfrm>
              <a:off x="7589520" y="6144768"/>
              <a:ext cx="3931920" cy="3657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200" b="0" spc="200">
                  <a:solidFill>
                    <a:srgbClr val="DE6E58"/>
                  </a:solidFill>
                  <a:latin typeface="宋体"/>
                </a:rPr>
                <a:t>还有名字没找到。</a:t>
              </a:r>
            </a:p>
          </p:txBody>
        </p:sp>
      </p:grpSp>
      <p:grpSp>
        <p:nvGrpSpPr>
          <p:cNvPr id="24" name="L3 意象层"/>
          <p:cNvGrpSpPr/>
          <p:nvPr/>
        </p:nvGrpSpPr>
        <p:grpSpPr>
          <a:xfrm>
            <a:off x="7589520" y="2423160"/>
            <a:ext cx="3657600" cy="3657600"/>
            <a:chOff x="7589520" y="2423160"/>
            <a:chExt cx="3657600" cy="3657600"/>
          </a:xfrm>
        </p:grpSpPr>
        <p:pic>
          <p:nvPicPr>
            <p:cNvPr id="19" name="L3-空白名册" descr="obj-ledger-empty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420000">
              <a:off x="7589520" y="2423160"/>
              <a:ext cx="3657600" cy="3657600"/>
            </a:xfrm>
            <a:prstGeom prst="rect">
              <a:avLst/>
            </a:prstGeom>
          </p:spPr>
        </p:pic>
      </p:grpSp>
      <p:grpSp>
        <p:nvGrpSpPr>
          <p:cNvPr id="25" name="L4 特殊意象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3" name="L4-金线角" descr="L4-corne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4" name="L4-尘埃" descr="L4-dus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sp>
          <p:nvSpPr>
            <p:cNvPr id="10" name="L4-短横"/>
            <p:cNvSpPr/>
            <p:nvPr/>
          </p:nvSpPr>
          <p:spPr>
            <a:xfrm>
              <a:off x="822960" y="2377440"/>
              <a:ext cx="146304" cy="14630"/>
            </a:xfrm>
            <a:prstGeom prst="rect">
              <a:avLst/>
            </a:prstGeom>
            <a:solidFill>
              <a:srgbClr val="E05C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L4-短横"/>
            <p:cNvSpPr/>
            <p:nvPr/>
          </p:nvSpPr>
          <p:spPr>
            <a:xfrm>
              <a:off x="822960" y="3218688"/>
              <a:ext cx="146304" cy="14630"/>
            </a:xfrm>
            <a:prstGeom prst="rect">
              <a:avLst/>
            </a:prstGeom>
            <a:solidFill>
              <a:srgbClr val="E05C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L4-短横"/>
            <p:cNvSpPr/>
            <p:nvPr/>
          </p:nvSpPr>
          <p:spPr>
            <a:xfrm>
              <a:off x="822960" y="4059935"/>
              <a:ext cx="146304" cy="14630"/>
            </a:xfrm>
            <a:prstGeom prst="rect">
              <a:avLst/>
            </a:prstGeom>
            <a:solidFill>
              <a:srgbClr val="E05C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L4-短横"/>
            <p:cNvSpPr/>
            <p:nvPr/>
          </p:nvSpPr>
          <p:spPr>
            <a:xfrm>
              <a:off x="822960" y="4901183"/>
              <a:ext cx="146304" cy="14630"/>
            </a:xfrm>
            <a:prstGeom prst="rect">
              <a:avLst/>
            </a:prstGeom>
            <a:solidFill>
              <a:srgbClr val="E05C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1" name="L4-左压暗" descr="L4-left-scrim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" name="L1 渲染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2" name="L1-档案纸" descr="L1-paper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  <p:grpSp>
        <p:nvGrpSpPr>
          <p:cNvPr id="42" name="L2 文字层"/>
          <p:cNvGrpSpPr/>
          <p:nvPr/>
        </p:nvGrpSpPr>
        <p:grpSpPr>
          <a:xfrm>
            <a:off x="777240" y="475488"/>
            <a:ext cx="10652760" cy="6254496"/>
            <a:chOff x="777240" y="475488"/>
            <a:chExt cx="10652760" cy="6254496"/>
          </a:xfrm>
        </p:grpSpPr>
        <p:sp>
          <p:nvSpPr>
            <p:cNvPr id="4" name="L2-眉标"/>
            <p:cNvSpPr txBox="1"/>
            <p:nvPr/>
          </p:nvSpPr>
          <p:spPr>
            <a:xfrm>
              <a:off x="777240" y="475488"/>
              <a:ext cx="822960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50" b="0" spc="320">
                  <a:solidFill>
                    <a:srgbClr val="A32B2B"/>
                  </a:solidFill>
                  <a:latin typeface="微软雅黑"/>
                </a:rPr>
                <a:t>数据总表</a:t>
              </a:r>
            </a:p>
          </p:txBody>
        </p:sp>
        <p:sp>
          <p:nvSpPr>
            <p:cNvPr id="5" name="L2-主标题"/>
            <p:cNvSpPr txBox="1"/>
            <p:nvPr/>
          </p:nvSpPr>
          <p:spPr>
            <a:xfrm>
              <a:off x="777240" y="841248"/>
              <a:ext cx="10607040" cy="619432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4200" b="1" spc="300">
                  <a:solidFill>
                    <a:srgbClr val="16130F"/>
                  </a:solidFill>
                  <a:latin typeface="宋体"/>
                </a:rPr>
                <a:t>一页看完</a:t>
              </a:r>
            </a:p>
          </p:txBody>
        </p:sp>
        <p:sp>
          <p:nvSpPr>
            <p:cNvPr id="6" name="L2-红色标题线"/>
            <p:cNvSpPr/>
            <p:nvPr/>
          </p:nvSpPr>
          <p:spPr>
            <a:xfrm>
              <a:off x="795528" y="1810512"/>
              <a:ext cx="2377440" cy="25603"/>
            </a:xfrm>
            <a:prstGeom prst="rect">
              <a:avLst/>
            </a:prstGeom>
            <a:solidFill>
              <a:srgbClr val="A3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L2-数据数字"/>
            <p:cNvSpPr txBox="1"/>
            <p:nvPr/>
          </p:nvSpPr>
          <p:spPr>
            <a:xfrm>
              <a:off x="822960" y="2121408"/>
              <a:ext cx="210312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800" b="1" spc="50">
                  <a:solidFill>
                    <a:srgbClr val="16130F"/>
                  </a:solidFill>
                  <a:latin typeface="宋体"/>
                </a:rPr>
                <a:t>113,048</a:t>
              </a:r>
            </a:p>
          </p:txBody>
        </p:sp>
        <p:sp>
          <p:nvSpPr>
            <p:cNvPr id="8" name="L2-数据说明"/>
            <p:cNvSpPr txBox="1"/>
            <p:nvPr/>
          </p:nvSpPr>
          <p:spPr>
            <a:xfrm>
              <a:off x="3035808" y="2203703"/>
              <a:ext cx="237744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100">
                  <a:solidFill>
                    <a:srgbClr val="6E604C"/>
                  </a:solidFill>
                  <a:latin typeface="微软雅黑"/>
                </a:rPr>
                <a:t>严格正文字数</a:t>
              </a:r>
            </a:p>
          </p:txBody>
        </p:sp>
        <p:sp>
          <p:nvSpPr>
            <p:cNvPr id="10" name="L2-数据数字"/>
            <p:cNvSpPr txBox="1"/>
            <p:nvPr/>
          </p:nvSpPr>
          <p:spPr>
            <a:xfrm>
              <a:off x="5852160" y="2121408"/>
              <a:ext cx="210312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800" b="1" spc="50">
                  <a:solidFill>
                    <a:srgbClr val="16130F"/>
                  </a:solidFill>
                  <a:latin typeface="宋体"/>
                </a:rPr>
                <a:t>140</a:t>
              </a:r>
            </a:p>
          </p:txBody>
        </p:sp>
        <p:sp>
          <p:nvSpPr>
            <p:cNvPr id="11" name="L2-数据说明"/>
            <p:cNvSpPr txBox="1"/>
            <p:nvPr/>
          </p:nvSpPr>
          <p:spPr>
            <a:xfrm>
              <a:off x="8065008" y="2203703"/>
              <a:ext cx="237744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100">
                  <a:solidFill>
                    <a:srgbClr val="6E604C"/>
                  </a:solidFill>
                  <a:latin typeface="微软雅黑"/>
                </a:rPr>
                <a:t>场景</a:t>
              </a:r>
            </a:p>
          </p:txBody>
        </p:sp>
        <p:sp>
          <p:nvSpPr>
            <p:cNvPr id="13" name="L2-数据数字"/>
            <p:cNvSpPr txBox="1"/>
            <p:nvPr/>
          </p:nvSpPr>
          <p:spPr>
            <a:xfrm>
              <a:off x="822960" y="2907791"/>
              <a:ext cx="210312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800" b="1" spc="50">
                  <a:solidFill>
                    <a:srgbClr val="16130F"/>
                  </a:solidFill>
                  <a:latin typeface="宋体"/>
                </a:rPr>
                <a:t>9</a:t>
              </a:r>
            </a:p>
          </p:txBody>
        </p:sp>
        <p:sp>
          <p:nvSpPr>
            <p:cNvPr id="14" name="L2-数据说明"/>
            <p:cNvSpPr txBox="1"/>
            <p:nvPr/>
          </p:nvSpPr>
          <p:spPr>
            <a:xfrm>
              <a:off x="3035808" y="2990087"/>
              <a:ext cx="237744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100">
                  <a:solidFill>
                    <a:srgbClr val="6E604C"/>
                  </a:solidFill>
                  <a:latin typeface="微软雅黑"/>
                </a:rPr>
                <a:t>结局（6 主 + 3 合成）</a:t>
              </a:r>
            </a:p>
          </p:txBody>
        </p:sp>
        <p:sp>
          <p:nvSpPr>
            <p:cNvPr id="16" name="L2-数据数字"/>
            <p:cNvSpPr txBox="1"/>
            <p:nvPr/>
          </p:nvSpPr>
          <p:spPr>
            <a:xfrm>
              <a:off x="5852160" y="2907791"/>
              <a:ext cx="210312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800" b="1" spc="50">
                  <a:solidFill>
                    <a:srgbClr val="16130F"/>
                  </a:solidFill>
                  <a:latin typeface="宋体"/>
                </a:rPr>
                <a:t>76</a:t>
              </a:r>
            </a:p>
          </p:txBody>
        </p:sp>
        <p:sp>
          <p:nvSpPr>
            <p:cNvPr id="17" name="L2-数据说明"/>
            <p:cNvSpPr txBox="1"/>
            <p:nvPr/>
          </p:nvSpPr>
          <p:spPr>
            <a:xfrm>
              <a:off x="8065008" y="2990087"/>
              <a:ext cx="237744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100">
                  <a:solidFill>
                    <a:srgbClr val="6E604C"/>
                  </a:solidFill>
                  <a:latin typeface="微软雅黑"/>
                </a:rPr>
                <a:t>史料卡（63 已核）</a:t>
              </a:r>
            </a:p>
          </p:txBody>
        </p:sp>
        <p:sp>
          <p:nvSpPr>
            <p:cNvPr id="19" name="L2-数据数字"/>
            <p:cNvSpPr txBox="1"/>
            <p:nvPr/>
          </p:nvSpPr>
          <p:spPr>
            <a:xfrm>
              <a:off x="822960" y="3694176"/>
              <a:ext cx="210312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800" b="1" spc="50">
                  <a:solidFill>
                    <a:srgbClr val="16130F"/>
                  </a:solidFill>
                  <a:latin typeface="宋体"/>
                </a:rPr>
                <a:t>496</a:t>
              </a:r>
            </a:p>
          </p:txBody>
        </p:sp>
        <p:sp>
          <p:nvSpPr>
            <p:cNvPr id="20" name="L2-数据说明"/>
            <p:cNvSpPr txBox="1"/>
            <p:nvPr/>
          </p:nvSpPr>
          <p:spPr>
            <a:xfrm>
              <a:off x="3035808" y="3776472"/>
              <a:ext cx="237744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100">
                  <a:solidFill>
                    <a:srgbClr val="6E604C"/>
                  </a:solidFill>
                  <a:latin typeface="微软雅黑"/>
                </a:rPr>
                <a:t>张插画</a:t>
              </a:r>
            </a:p>
          </p:txBody>
        </p:sp>
        <p:sp>
          <p:nvSpPr>
            <p:cNvPr id="22" name="L2-数据数字"/>
            <p:cNvSpPr txBox="1"/>
            <p:nvPr/>
          </p:nvSpPr>
          <p:spPr>
            <a:xfrm>
              <a:off x="5852160" y="3694176"/>
              <a:ext cx="210312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800" b="1" spc="50">
                  <a:solidFill>
                    <a:srgbClr val="16130F"/>
                  </a:solidFill>
                  <a:latin typeface="宋体"/>
                </a:rPr>
                <a:t>28</a:t>
              </a:r>
            </a:p>
          </p:txBody>
        </p:sp>
        <p:sp>
          <p:nvSpPr>
            <p:cNvPr id="23" name="L2-数据说明"/>
            <p:cNvSpPr txBox="1"/>
            <p:nvPr/>
          </p:nvSpPr>
          <p:spPr>
            <a:xfrm>
              <a:off x="8065008" y="3776472"/>
              <a:ext cx="237744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100">
                  <a:solidFill>
                    <a:srgbClr val="6E604C"/>
                  </a:solidFill>
                  <a:latin typeface="微软雅黑"/>
                </a:rPr>
                <a:t>条音效</a:t>
              </a:r>
            </a:p>
          </p:txBody>
        </p:sp>
        <p:sp>
          <p:nvSpPr>
            <p:cNvPr id="25" name="L2-数据数字"/>
            <p:cNvSpPr txBox="1"/>
            <p:nvPr/>
          </p:nvSpPr>
          <p:spPr>
            <a:xfrm>
              <a:off x="822960" y="4480560"/>
              <a:ext cx="210312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800" b="1" spc="50">
                  <a:solidFill>
                    <a:srgbClr val="16130F"/>
                  </a:solidFill>
                  <a:latin typeface="宋体"/>
                </a:rPr>
                <a:t>5</a:t>
              </a:r>
            </a:p>
          </p:txBody>
        </p:sp>
        <p:sp>
          <p:nvSpPr>
            <p:cNvPr id="26" name="L2-数据说明"/>
            <p:cNvSpPr txBox="1"/>
            <p:nvPr/>
          </p:nvSpPr>
          <p:spPr>
            <a:xfrm>
              <a:off x="3035808" y="4562856"/>
              <a:ext cx="237744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100">
                  <a:solidFill>
                    <a:srgbClr val="6E604C"/>
                  </a:solidFill>
                  <a:latin typeface="微软雅黑"/>
                </a:rPr>
                <a:t>个真 3D 场景</a:t>
              </a:r>
            </a:p>
          </p:txBody>
        </p:sp>
        <p:sp>
          <p:nvSpPr>
            <p:cNvPr id="28" name="L2-数据数字"/>
            <p:cNvSpPr txBox="1"/>
            <p:nvPr/>
          </p:nvSpPr>
          <p:spPr>
            <a:xfrm>
              <a:off x="5852160" y="4480560"/>
              <a:ext cx="210312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800" b="1" spc="50">
                  <a:solidFill>
                    <a:srgbClr val="16130F"/>
                  </a:solidFill>
                  <a:latin typeface="宋体"/>
                </a:rPr>
                <a:t>500</a:t>
              </a:r>
            </a:p>
          </p:txBody>
        </p:sp>
        <p:sp>
          <p:nvSpPr>
            <p:cNvPr id="29" name="L2-数据说明"/>
            <p:cNvSpPr txBox="1"/>
            <p:nvPr/>
          </p:nvSpPr>
          <p:spPr>
            <a:xfrm>
              <a:off x="8065008" y="4562856"/>
              <a:ext cx="237744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100">
                  <a:solidFill>
                    <a:srgbClr val="6E604C"/>
                  </a:solidFill>
                  <a:latin typeface="微软雅黑"/>
                </a:rPr>
                <a:t>条图片总谱</a:t>
              </a:r>
            </a:p>
          </p:txBody>
        </p:sp>
        <p:sp>
          <p:nvSpPr>
            <p:cNvPr id="31" name="L2-数据数字"/>
            <p:cNvSpPr txBox="1"/>
            <p:nvPr/>
          </p:nvSpPr>
          <p:spPr>
            <a:xfrm>
              <a:off x="822960" y="5266944"/>
              <a:ext cx="210312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800" b="1" spc="50">
                  <a:solidFill>
                    <a:srgbClr val="16130F"/>
                  </a:solidFill>
                  <a:latin typeface="宋体"/>
                </a:rPr>
                <a:t>95.6%</a:t>
              </a:r>
            </a:p>
          </p:txBody>
        </p:sp>
        <p:sp>
          <p:nvSpPr>
            <p:cNvPr id="32" name="L2-数据说明"/>
            <p:cNvSpPr txBox="1"/>
            <p:nvPr/>
          </p:nvSpPr>
          <p:spPr>
            <a:xfrm>
              <a:off x="3035808" y="5349240"/>
              <a:ext cx="237744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100">
                  <a:solidFill>
                    <a:srgbClr val="6E604C"/>
                  </a:solidFill>
                  <a:latin typeface="微软雅黑"/>
                </a:rPr>
                <a:t>入屏质检可用率</a:t>
              </a:r>
            </a:p>
          </p:txBody>
        </p:sp>
        <p:sp>
          <p:nvSpPr>
            <p:cNvPr id="34" name="L2-数据数字"/>
            <p:cNvSpPr txBox="1"/>
            <p:nvPr/>
          </p:nvSpPr>
          <p:spPr>
            <a:xfrm>
              <a:off x="5852160" y="5266944"/>
              <a:ext cx="210312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800" b="1" spc="50">
                  <a:solidFill>
                    <a:srgbClr val="16130F"/>
                  </a:solidFill>
                  <a:latin typeface="宋体"/>
                </a:rPr>
                <a:t>0</a:t>
              </a:r>
            </a:p>
          </p:txBody>
        </p:sp>
        <p:sp>
          <p:nvSpPr>
            <p:cNvPr id="35" name="L2-数据说明"/>
            <p:cNvSpPr txBox="1"/>
            <p:nvPr/>
          </p:nvSpPr>
          <p:spPr>
            <a:xfrm>
              <a:off x="8065008" y="5349240"/>
              <a:ext cx="2377440" cy="292608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100">
                  <a:solidFill>
                    <a:srgbClr val="6E604C"/>
                  </a:solidFill>
                  <a:latin typeface="微软雅黑"/>
                </a:rPr>
                <a:t>后端依赖</a:t>
              </a:r>
            </a:p>
          </p:txBody>
        </p:sp>
        <p:sp>
          <p:nvSpPr>
            <p:cNvPr id="37" name="L2-脚注"/>
            <p:cNvSpPr txBox="1"/>
            <p:nvPr/>
          </p:nvSpPr>
          <p:spPr>
            <a:xfrm>
              <a:off x="822960" y="6053328"/>
              <a:ext cx="8778240" cy="3657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050" b="0" spc="100">
                  <a:solidFill>
                    <a:srgbClr val="786952"/>
                  </a:solidFill>
                  <a:latin typeface="微软雅黑"/>
                </a:rPr>
                <a:t>所有数字都可以在仓库里复现（tools/metrics.mjs）。</a:t>
              </a:r>
            </a:p>
          </p:txBody>
        </p:sp>
        <p:sp>
          <p:nvSpPr>
            <p:cNvPr id="39" name="L2-页脚"/>
            <p:cNvSpPr txBox="1"/>
            <p:nvPr/>
          </p:nvSpPr>
          <p:spPr>
            <a:xfrm>
              <a:off x="777240" y="6492240"/>
              <a:ext cx="548640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850" b="0">
                  <a:solidFill>
                    <a:srgbClr val="6E6250"/>
                  </a:solidFill>
                  <a:latin typeface="微软雅黑"/>
                </a:rPr>
                <a:t>把名字留下来 · 四行仓库　｜　作品 460737</a:t>
              </a:r>
            </a:p>
          </p:txBody>
        </p:sp>
        <p:sp>
          <p:nvSpPr>
            <p:cNvPr id="40" name="L2-页码"/>
            <p:cNvSpPr txBox="1"/>
            <p:nvPr/>
          </p:nvSpPr>
          <p:spPr>
            <a:xfrm>
              <a:off x="10881360" y="6492240"/>
              <a:ext cx="548640" cy="237744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r"/>
              <a:r>
                <a:rPr sz="850" b="0">
                  <a:solidFill>
                    <a:srgbClr val="6E6250"/>
                  </a:solidFill>
                  <a:latin typeface="微软雅黑"/>
                </a:rPr>
                <a:t>18 / 19</a:t>
              </a:r>
            </a:p>
          </p:txBody>
        </p:sp>
      </p:grpSp>
      <p:grpSp>
        <p:nvGrpSpPr>
          <p:cNvPr id="43" name="L3 意象层"/>
          <p:cNvGrpSpPr/>
          <p:nvPr/>
        </p:nvGrpSpPr>
        <p:grpSpPr>
          <a:xfrm>
            <a:off x="9829800" y="1188720"/>
            <a:ext cx="1371600" cy="1371600"/>
            <a:chOff x="9829800" y="1188720"/>
            <a:chExt cx="1371600" cy="1371600"/>
          </a:xfrm>
        </p:grpSpPr>
        <p:pic>
          <p:nvPicPr>
            <p:cNvPr id="38" name="L3-编号印章" descr="L4-seal-numbe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29800" y="1188720"/>
              <a:ext cx="1371600" cy="1371600"/>
            </a:xfrm>
            <a:prstGeom prst="rect">
              <a:avLst/>
            </a:prstGeom>
          </p:spPr>
        </p:pic>
      </p:grpSp>
      <p:grpSp>
        <p:nvGrpSpPr>
          <p:cNvPr id="44" name="L4 特殊意象层"/>
          <p:cNvGrpSpPr/>
          <p:nvPr/>
        </p:nvGrpSpPr>
        <p:grpSpPr>
          <a:xfrm>
            <a:off x="777240" y="777240"/>
            <a:ext cx="10424160" cy="5082234"/>
            <a:chOff x="777240" y="777240"/>
            <a:chExt cx="10424160" cy="5082234"/>
          </a:xfrm>
        </p:grpSpPr>
        <p:sp>
          <p:nvSpPr>
            <p:cNvPr id="3" name="L4-细线"/>
            <p:cNvSpPr/>
            <p:nvPr/>
          </p:nvSpPr>
          <p:spPr>
            <a:xfrm>
              <a:off x="777240" y="777240"/>
              <a:ext cx="10424160" cy="10972"/>
            </a:xfrm>
            <a:prstGeom prst="rect">
              <a:avLst/>
            </a:prstGeom>
            <a:solidFill>
              <a:srgbClr val="968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4-分隔线"/>
            <p:cNvSpPr/>
            <p:nvPr/>
          </p:nvSpPr>
          <p:spPr>
            <a:xfrm>
              <a:off x="822960" y="2706624"/>
              <a:ext cx="4480560" cy="7315"/>
            </a:xfrm>
            <a:prstGeom prst="rect">
              <a:avLst/>
            </a:prstGeom>
            <a:solidFill>
              <a:srgbClr val="B6A8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L4-分隔线"/>
            <p:cNvSpPr/>
            <p:nvPr/>
          </p:nvSpPr>
          <p:spPr>
            <a:xfrm>
              <a:off x="5852160" y="2706624"/>
              <a:ext cx="4480560" cy="7315"/>
            </a:xfrm>
            <a:prstGeom prst="rect">
              <a:avLst/>
            </a:prstGeom>
            <a:solidFill>
              <a:srgbClr val="B6A8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L4-分隔线"/>
            <p:cNvSpPr/>
            <p:nvPr/>
          </p:nvSpPr>
          <p:spPr>
            <a:xfrm>
              <a:off x="822960" y="3493008"/>
              <a:ext cx="4480560" cy="7315"/>
            </a:xfrm>
            <a:prstGeom prst="rect">
              <a:avLst/>
            </a:prstGeom>
            <a:solidFill>
              <a:srgbClr val="B6A8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L4-分隔线"/>
            <p:cNvSpPr/>
            <p:nvPr/>
          </p:nvSpPr>
          <p:spPr>
            <a:xfrm>
              <a:off x="5852160" y="3493008"/>
              <a:ext cx="4480560" cy="7315"/>
            </a:xfrm>
            <a:prstGeom prst="rect">
              <a:avLst/>
            </a:prstGeom>
            <a:solidFill>
              <a:srgbClr val="B6A8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L4-分隔线"/>
            <p:cNvSpPr/>
            <p:nvPr/>
          </p:nvSpPr>
          <p:spPr>
            <a:xfrm>
              <a:off x="822960" y="4279392"/>
              <a:ext cx="4480560" cy="7315"/>
            </a:xfrm>
            <a:prstGeom prst="rect">
              <a:avLst/>
            </a:prstGeom>
            <a:solidFill>
              <a:srgbClr val="B6A8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L4-分隔线"/>
            <p:cNvSpPr/>
            <p:nvPr/>
          </p:nvSpPr>
          <p:spPr>
            <a:xfrm>
              <a:off x="5852160" y="4279392"/>
              <a:ext cx="4480560" cy="7315"/>
            </a:xfrm>
            <a:prstGeom prst="rect">
              <a:avLst/>
            </a:prstGeom>
            <a:solidFill>
              <a:srgbClr val="B6A8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L4-分隔线"/>
            <p:cNvSpPr/>
            <p:nvPr/>
          </p:nvSpPr>
          <p:spPr>
            <a:xfrm>
              <a:off x="822960" y="5065776"/>
              <a:ext cx="4480560" cy="7315"/>
            </a:xfrm>
            <a:prstGeom prst="rect">
              <a:avLst/>
            </a:prstGeom>
            <a:solidFill>
              <a:srgbClr val="B6A8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L4-分隔线"/>
            <p:cNvSpPr/>
            <p:nvPr/>
          </p:nvSpPr>
          <p:spPr>
            <a:xfrm>
              <a:off x="5852160" y="5065776"/>
              <a:ext cx="4480560" cy="7315"/>
            </a:xfrm>
            <a:prstGeom prst="rect">
              <a:avLst/>
            </a:prstGeom>
            <a:solidFill>
              <a:srgbClr val="B6A8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L4-分隔线"/>
            <p:cNvSpPr/>
            <p:nvPr/>
          </p:nvSpPr>
          <p:spPr>
            <a:xfrm>
              <a:off x="822960" y="5852159"/>
              <a:ext cx="4480560" cy="7315"/>
            </a:xfrm>
            <a:prstGeom prst="rect">
              <a:avLst/>
            </a:prstGeom>
            <a:solidFill>
              <a:srgbClr val="B6A8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L4-分隔线"/>
            <p:cNvSpPr/>
            <p:nvPr/>
          </p:nvSpPr>
          <p:spPr>
            <a:xfrm>
              <a:off x="5852160" y="5852159"/>
              <a:ext cx="4480560" cy="7315"/>
            </a:xfrm>
            <a:prstGeom prst="rect">
              <a:avLst/>
            </a:prstGeom>
            <a:solidFill>
              <a:srgbClr val="B6A8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" name="L1 渲染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2" name="L1-渲染底图" descr="L1-flag-night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</p:grpSp>
      <p:grpSp>
        <p:nvGrpSpPr>
          <p:cNvPr id="17" name="L2 文字层"/>
          <p:cNvGrpSpPr/>
          <p:nvPr/>
        </p:nvGrpSpPr>
        <p:grpSpPr>
          <a:xfrm>
            <a:off x="868680" y="1965960"/>
            <a:ext cx="10652760" cy="4572000"/>
            <a:chOff x="868680" y="1965960"/>
            <a:chExt cx="10652760" cy="4572000"/>
          </a:xfrm>
        </p:grpSpPr>
        <p:sp>
          <p:nvSpPr>
            <p:cNvPr id="3" name="L2-主标题"/>
            <p:cNvSpPr txBox="1"/>
            <p:nvPr/>
          </p:nvSpPr>
          <p:spPr>
            <a:xfrm>
              <a:off x="868680" y="1965960"/>
              <a:ext cx="8229600" cy="12801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7600" b="1" spc="600">
                  <a:solidFill>
                    <a:srgbClr val="EDE6D8"/>
                  </a:solidFill>
                  <a:latin typeface="宋体"/>
                </a:rPr>
                <a:t>把名字留下来</a:t>
              </a:r>
            </a:p>
          </p:txBody>
        </p:sp>
        <p:sp>
          <p:nvSpPr>
            <p:cNvPr id="4" name="L2-红色标题线"/>
            <p:cNvSpPr/>
            <p:nvPr/>
          </p:nvSpPr>
          <p:spPr>
            <a:xfrm>
              <a:off x="914400" y="3310128"/>
              <a:ext cx="2834640" cy="23774"/>
            </a:xfrm>
            <a:prstGeom prst="rect">
              <a:avLst/>
            </a:prstGeom>
            <a:solidFill>
              <a:srgbClr val="A3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L2-引语"/>
            <p:cNvSpPr txBox="1"/>
            <p:nvPr/>
          </p:nvSpPr>
          <p:spPr>
            <a:xfrm>
              <a:off x="914400" y="3566160"/>
              <a:ext cx="7863840" cy="45720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500" b="0" spc="60">
                  <a:solidFill>
                    <a:srgbClr val="D8CCBA"/>
                  </a:solidFill>
                  <a:latin typeface="宋体"/>
                </a:rPr>
                <a:t>四百二十余人守了四天四夜。他们的名字，后来只找回来八十七个。</a:t>
              </a:r>
            </a:p>
          </p:txBody>
        </p:sp>
        <p:sp>
          <p:nvSpPr>
            <p:cNvPr id="6" name="L2-网址"/>
            <p:cNvSpPr txBox="1"/>
            <p:nvPr/>
          </p:nvSpPr>
          <p:spPr>
            <a:xfrm>
              <a:off x="914400" y="4800600"/>
              <a:ext cx="7863840" cy="3657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300" b="0" spc="80">
                  <a:solidFill>
                    <a:srgbClr val="DECEB8"/>
                  </a:solidFill>
                  <a:latin typeface="微软雅黑"/>
                </a:rPr>
                <a:t>在线试玩　https://moon6jb6.github.io/szmt2026/</a:t>
              </a:r>
            </a:p>
          </p:txBody>
        </p:sp>
        <p:sp>
          <p:nvSpPr>
            <p:cNvPr id="7" name="L2-赛事"/>
            <p:cNvSpPr txBox="1"/>
            <p:nvPr/>
          </p:nvSpPr>
          <p:spPr>
            <a:xfrm>
              <a:off x="914400" y="5257800"/>
              <a:ext cx="7863840" cy="36576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1100" b="0" spc="60">
                  <a:solidFill>
                    <a:srgbClr val="A89C88"/>
                  </a:solidFill>
                  <a:latin typeface="微软雅黑"/>
                </a:rPr>
                <a:t>作品编号 460737　｜　2026 第十四届全国大学生数字媒体科技作品及创意竞赛</a:t>
              </a:r>
            </a:p>
          </p:txBody>
        </p:sp>
        <p:sp>
          <p:nvSpPr>
            <p:cNvPr id="8" name="L2-谢谢"/>
            <p:cNvSpPr txBox="1"/>
            <p:nvPr/>
          </p:nvSpPr>
          <p:spPr>
            <a:xfrm>
              <a:off x="914400" y="5989320"/>
              <a:ext cx="7863840" cy="54864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l"/>
              <a:r>
                <a:rPr sz="2200" b="0" spc="1000">
                  <a:solidFill>
                    <a:srgbClr val="EDE6D8"/>
                  </a:solidFill>
                  <a:latin typeface="宋体"/>
                </a:rPr>
                <a:t>谢 谢</a:t>
              </a:r>
            </a:p>
          </p:txBody>
        </p:sp>
        <p:sp>
          <p:nvSpPr>
            <p:cNvPr id="15" name="L2-扫码"/>
            <p:cNvSpPr txBox="1"/>
            <p:nvPr/>
          </p:nvSpPr>
          <p:spPr>
            <a:xfrm>
              <a:off x="9418320" y="3493008"/>
              <a:ext cx="2103120" cy="274320"/>
            </a:xfrm>
            <a:prstGeom prst="rect">
              <a:avLst/>
            </a:prstGeom>
            <a:noFill/>
          </p:spPr>
          <p:txBody>
            <a:bodyPr wrap="square" lIns="0" rIns="0" tIns="0" bIns="0">
              <a:spAutoFit/>
            </a:bodyPr>
            <a:lstStyle/>
            <a:p>
              <a:pPr algn="ctr"/>
              <a:r>
                <a:rPr sz="1000" b="0" spc="200">
                  <a:solidFill>
                    <a:srgbClr val="DECEB8"/>
                  </a:solidFill>
                  <a:latin typeface="微软雅黑"/>
                </a:rPr>
                <a:t>扫码试玩</a:t>
              </a:r>
            </a:p>
          </p:txBody>
        </p:sp>
      </p:grpSp>
      <p:grpSp>
        <p:nvGrpSpPr>
          <p:cNvPr id="18" name="L3 意象层"/>
          <p:cNvGrpSpPr/>
          <p:nvPr/>
        </p:nvGrpSpPr>
        <p:grpSpPr>
          <a:xfrm>
            <a:off x="7955279" y="4160520"/>
            <a:ext cx="3291840" cy="3291840"/>
            <a:chOff x="7955279" y="4160520"/>
            <a:chExt cx="3291840" cy="3291840"/>
          </a:xfrm>
        </p:grpSpPr>
        <p:pic>
          <p:nvPicPr>
            <p:cNvPr id="9" name="L3-合上的名册" descr="obj-ledger-clos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120000">
              <a:off x="7955279" y="4160520"/>
              <a:ext cx="3291840" cy="3291840"/>
            </a:xfrm>
            <a:prstGeom prst="rect">
              <a:avLst/>
            </a:prstGeom>
          </p:spPr>
        </p:pic>
      </p:grpSp>
      <p:grpSp>
        <p:nvGrpSpPr>
          <p:cNvPr id="19" name="L4 特殊意象层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pic>
          <p:nvPicPr>
            <p:cNvPr id="10" name="L4-左下压暗" descr="L4-scrim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11" name="L4-朱红绸带" descr="L4-ribbon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360000">
              <a:off x="0" y="0"/>
              <a:ext cx="12191695" cy="6858000"/>
            </a:xfrm>
            <a:prstGeom prst="rect">
              <a:avLst/>
            </a:prstGeom>
          </p:spPr>
        </p:pic>
        <p:pic>
          <p:nvPicPr>
            <p:cNvPr id="12" name="L4-金线" descr="L4-gold-lines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12191695" cy="6858000"/>
            </a:xfrm>
            <a:prstGeom prst="rect">
              <a:avLst/>
            </a:prstGeom>
          </p:spPr>
        </p:pic>
        <p:sp>
          <p:nvSpPr>
            <p:cNvPr id="13" name="L4-二维码卡"/>
            <p:cNvSpPr/>
            <p:nvPr/>
          </p:nvSpPr>
          <p:spPr>
            <a:xfrm>
              <a:off x="9464040" y="1417320"/>
              <a:ext cx="1965960" cy="1965960"/>
            </a:xfrm>
            <a:prstGeom prst="rect">
              <a:avLst/>
            </a:prstGeom>
            <a:solidFill>
              <a:srgbClr val="EDE6D8"/>
            </a:solidFill>
            <a:ln w="15240">
              <a:solidFill>
                <a:srgbClr val="A32B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4" name="L4-二维码" descr="L4-qr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01200" y="1554480"/>
              <a:ext cx="1691640" cy="16916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